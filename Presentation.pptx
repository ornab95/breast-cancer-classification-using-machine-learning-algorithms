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806" r:id="rId1"/>
  </p:sldMasterIdLst>
  <p:notesMasterIdLst>
    <p:notesMasterId r:id="rId23"/>
  </p:notesMasterIdLst>
  <p:sldIdLst>
    <p:sldId id="272" r:id="rId2"/>
    <p:sldId id="256" r:id="rId3"/>
    <p:sldId id="257" r:id="rId4"/>
    <p:sldId id="258" r:id="rId5"/>
    <p:sldId id="259" r:id="rId6"/>
    <p:sldId id="261" r:id="rId7"/>
    <p:sldId id="262" r:id="rId8"/>
    <p:sldId id="264" r:id="rId9"/>
    <p:sldId id="265" r:id="rId10"/>
    <p:sldId id="266" r:id="rId11"/>
    <p:sldId id="271" r:id="rId12"/>
    <p:sldId id="267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68" r:id="rId21"/>
    <p:sldId id="269" r:id="rId2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0E9E9C3-ED60-44D1-B130-2C6947555B91}">
  <a:tblStyle styleId="{E0E9E9C3-ED60-44D1-B130-2C6947555B9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268" autoAdjust="0"/>
  </p:normalViewPr>
  <p:slideViewPr>
    <p:cSldViewPr snapToGrid="0">
      <p:cViewPr>
        <p:scale>
          <a:sx n="100" d="100"/>
          <a:sy n="100" d="100"/>
        </p:scale>
        <p:origin x="946" y="30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2166120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448e937866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448e937866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448e937866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448e937866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448e937866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448e937866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a67a5a249152bc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a67a5a249152bc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44e914e2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44e914e2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44e914e23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44e914e23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44e914e23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44e914e234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44e914e234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44e914e234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44e914e234_1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44e914e234_1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44e914e234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44e914e234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450db0f5c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450db0f5c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9829" y="601724"/>
            <a:ext cx="6421310" cy="1906073"/>
          </a:xfr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69829" y="2648403"/>
            <a:ext cx="6421310" cy="733216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smtClean="0"/>
              <a:t>13-Feb-24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69829" y="246981"/>
            <a:ext cx="3672983" cy="2319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249" y="599230"/>
            <a:ext cx="608264" cy="37768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8" name="Straight Connector 7"/>
          <p:cNvCxnSpPr/>
          <p:nvPr/>
        </p:nvCxnSpPr>
        <p:spPr>
          <a:xfrm>
            <a:off x="1750978" y="599230"/>
            <a:ext cx="0" cy="190856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53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smtClean="0"/>
              <a:t>13-Feb-24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8" name="Straight Connector 7"/>
          <p:cNvCxnSpPr/>
          <p:nvPr/>
        </p:nvCxnSpPr>
        <p:spPr>
          <a:xfrm>
            <a:off x="1028765" y="599230"/>
            <a:ext cx="0" cy="800376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580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1110" y="1317097"/>
            <a:ext cx="6421935" cy="1415963"/>
          </a:xfrm>
        </p:spPr>
        <p:txBody>
          <a:bodyPr anchor="b">
            <a:normAutofit/>
          </a:bodyPr>
          <a:lstStyle>
            <a:lvl1pPr algn="l"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1021" y="2854647"/>
            <a:ext cx="6412493" cy="759697"/>
          </a:xfrm>
        </p:spPr>
        <p:txBody>
          <a:bodyPr tIns="91440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smtClean="0"/>
              <a:t>13-Feb-24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8" name="Straight Connector 7"/>
          <p:cNvCxnSpPr/>
          <p:nvPr/>
        </p:nvCxnSpPr>
        <p:spPr>
          <a:xfrm>
            <a:off x="1028765" y="599230"/>
            <a:ext cx="0" cy="2133830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6986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1022" y="603667"/>
            <a:ext cx="7140118" cy="7944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1021" y="1508159"/>
            <a:ext cx="3456432" cy="25786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41095" y="1513007"/>
            <a:ext cx="3453098" cy="258114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smtClean="0"/>
              <a:t>13-Feb-24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9" name="Straight Connector 8"/>
          <p:cNvCxnSpPr/>
          <p:nvPr/>
        </p:nvCxnSpPr>
        <p:spPr>
          <a:xfrm>
            <a:off x="1028765" y="599230"/>
            <a:ext cx="0" cy="800376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16342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1022" y="603123"/>
            <a:ext cx="7140118" cy="7922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1021" y="1514662"/>
            <a:ext cx="3456432" cy="60145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1021" y="2118202"/>
            <a:ext cx="3456432" cy="198334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41093" y="1517253"/>
            <a:ext cx="3456432" cy="60167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41094" y="2116119"/>
            <a:ext cx="3456432" cy="197802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smtClean="0"/>
              <a:t>13-Feb-24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1" name="Straight Connector 10"/>
          <p:cNvCxnSpPr/>
          <p:nvPr/>
        </p:nvCxnSpPr>
        <p:spPr>
          <a:xfrm>
            <a:off x="1028765" y="599230"/>
            <a:ext cx="0" cy="800376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85063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smtClean="0"/>
              <a:t>13-Feb-24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7" name="Straight Connector 6"/>
          <p:cNvCxnSpPr/>
          <p:nvPr/>
        </p:nvCxnSpPr>
        <p:spPr>
          <a:xfrm>
            <a:off x="1028765" y="599230"/>
            <a:ext cx="0" cy="800376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84674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smtClean="0"/>
              <a:t>13-Feb-24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532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82" y="599230"/>
            <a:ext cx="2387346" cy="1685338"/>
          </a:xfr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2785" y="599230"/>
            <a:ext cx="4509353" cy="3494120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1022" y="2404119"/>
            <a:ext cx="2388742" cy="1686136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BBEA6-7C60-4B02-AE87-00D78D8422AF}" type="datetimeFigureOut">
              <a:rPr lang="en-US" smtClean="0"/>
              <a:t>13-Feb-24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9" name="Straight Connector 8"/>
          <p:cNvCxnSpPr/>
          <p:nvPr/>
        </p:nvCxnSpPr>
        <p:spPr>
          <a:xfrm>
            <a:off x="1028765" y="599230"/>
            <a:ext cx="0" cy="168533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99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608041" y="361628"/>
            <a:ext cx="3055900" cy="3861826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bg2">
                    <a:lumMod val="10000"/>
                  </a:schemeClr>
                </a:gs>
                <a:gs pos="100000">
                  <a:schemeClr val="bg2">
                    <a:lumMod val="10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prstMaterial="matte">
              <a:bevelT w="133350" h="50800" prst="divo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1771" y="847135"/>
            <a:ext cx="4085880" cy="1372938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3292" y="841907"/>
            <a:ext cx="2093378" cy="2899745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1022" y="2359494"/>
            <a:ext cx="4080028" cy="1502807"/>
          </a:xfrm>
        </p:spPr>
        <p:txBody>
          <a:bodyPr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51021" y="4102393"/>
            <a:ext cx="4080029" cy="240092"/>
          </a:xfrm>
        </p:spPr>
        <p:txBody>
          <a:bodyPr/>
          <a:lstStyle>
            <a:lvl1pPr algn="l">
              <a:defRPr/>
            </a:lvl1pPr>
          </a:lstStyle>
          <a:p>
            <a:fld id="{C9CAD897-D46E-4AD2-BD9B-49DD3E640873}" type="datetimeFigureOut">
              <a:rPr lang="en-US" smtClean="0"/>
              <a:t>13-Feb-24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51183" y="238981"/>
            <a:ext cx="4090106" cy="24069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28765" y="599230"/>
            <a:ext cx="0" cy="1620843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9577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smtClean="0"/>
              <a:t>13-Feb-24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8" name="Straight Connector 7"/>
          <p:cNvCxnSpPr/>
          <p:nvPr/>
        </p:nvCxnSpPr>
        <p:spPr>
          <a:xfrm>
            <a:off x="1028765" y="599230"/>
            <a:ext cx="0" cy="800376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76731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79333" y="662898"/>
            <a:ext cx="1211807" cy="343124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1021" y="662898"/>
            <a:ext cx="5804105" cy="343124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smtClean="0"/>
              <a:t>13-Feb-24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7079333" y="539454"/>
            <a:ext cx="1211807" cy="0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3666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81704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511799"/>
            <a:ext cx="9144000" cy="3089122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/>
          <a:srcRect t="2769" b="-2769"/>
          <a:stretch/>
        </p:blipFill>
        <p:spPr>
          <a:xfrm>
            <a:off x="0" y="4601718"/>
            <a:ext cx="9144000" cy="5572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51022" y="603390"/>
            <a:ext cx="7140119" cy="7869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1022" y="1511799"/>
            <a:ext cx="7140119" cy="2587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24D31-43A5-475A-80CF-332C9F6DCF35}" type="datetimeFigureOut">
              <a:rPr lang="en-US" smtClean="0"/>
              <a:t>13-Feb-24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51022" y="246981"/>
            <a:ext cx="4391789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100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4606279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6642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  <p:sldLayoutId id="2147483818" r:id="rId12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ijerph19063211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doi.org/10.1109/ICCMC.2018.8487537" TargetMode="External"/><Relationship Id="rId4" Type="http://schemas.openxmlformats.org/officeDocument/2006/relationships/hyperlink" Target="https://doi.org/10.1109/ICAICT51780.2020.9333507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24;p1">
            <a:extLst>
              <a:ext uri="{FF2B5EF4-FFF2-40B4-BE49-F238E27FC236}">
                <a16:creationId xmlns:a16="http://schemas.microsoft.com/office/drawing/2014/main" id="{F6BF4C4F-1008-4CE3-9FDF-A84F970B5453}"/>
              </a:ext>
            </a:extLst>
          </p:cNvPr>
          <p:cNvSpPr txBox="1"/>
          <p:nvPr/>
        </p:nvSpPr>
        <p:spPr>
          <a:xfrm>
            <a:off x="1584707" y="1297494"/>
            <a:ext cx="5974581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002060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Libre Baskerville"/>
              </a:rPr>
              <a:t>Welcome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2060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Libre Baskerville"/>
              </a:rPr>
              <a:t>To The Research Final Presentation </a:t>
            </a:r>
            <a:endParaRPr sz="2000" b="1" i="0" u="none" strike="noStrike" cap="none" dirty="0">
              <a:solidFill>
                <a:srgbClr val="002060"/>
              </a:solidFill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  <a:sym typeface="Libre Baskerville"/>
            </a:endParaRPr>
          </a:p>
        </p:txBody>
      </p:sp>
      <p:cxnSp>
        <p:nvCxnSpPr>
          <p:cNvPr id="3" name="Google Shape;325;p1">
            <a:extLst>
              <a:ext uri="{FF2B5EF4-FFF2-40B4-BE49-F238E27FC236}">
                <a16:creationId xmlns:a16="http://schemas.microsoft.com/office/drawing/2014/main" id="{F1459B6A-5BD6-4342-AF90-2D5D0503C4F1}"/>
              </a:ext>
            </a:extLst>
          </p:cNvPr>
          <p:cNvCxnSpPr>
            <a:cxnSpLocks/>
          </p:cNvCxnSpPr>
          <p:nvPr/>
        </p:nvCxnSpPr>
        <p:spPr>
          <a:xfrm>
            <a:off x="1584708" y="3516670"/>
            <a:ext cx="5974581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8445903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999459" y="1"/>
            <a:ext cx="7471145" cy="39978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rgbClr val="262626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           Department of Computer Science and Engineering</a:t>
            </a:r>
            <a:br>
              <a:rPr lang="en" sz="2200" dirty="0">
                <a:solidFill>
                  <a:srgbClr val="262626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</a:br>
            <a:endParaRPr lang="en-US" sz="2200" dirty="0">
              <a:solidFill>
                <a:srgbClr val="262626"/>
              </a:solidFill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  <a:sym typeface="Roboto"/>
            </a:endParaRPr>
          </a:p>
          <a:p>
            <a:pPr marL="2286000" lvl="0" indent="457200" algn="l"/>
            <a:r>
              <a:rPr lang="en-US" sz="2400" b="1" u="sng" dirty="0">
                <a:solidFill>
                  <a:srgbClr val="262626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Supervised by: </a:t>
            </a:r>
            <a:br>
              <a:rPr lang="en-US" sz="2000" b="1" u="sng" dirty="0">
                <a:solidFill>
                  <a:srgbClr val="262626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</a:br>
            <a:br>
              <a:rPr lang="en-US" sz="2000" b="1" dirty="0">
                <a:solidFill>
                  <a:srgbClr val="262626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</a:br>
            <a:r>
              <a:rPr lang="en-US" sz="2000" dirty="0">
                <a:solidFill>
                  <a:srgbClr val="262626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      Md. </a:t>
            </a:r>
            <a:r>
              <a:rPr lang="en-US" sz="2000" dirty="0" err="1">
                <a:solidFill>
                  <a:srgbClr val="262626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Mijanur</a:t>
            </a:r>
            <a:r>
              <a:rPr lang="en-US" sz="2000" dirty="0">
                <a:solidFill>
                  <a:srgbClr val="262626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 Rahman</a:t>
            </a:r>
          </a:p>
          <a:p>
            <a:pPr marL="1371600" lvl="0" indent="4572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Roboto"/>
              <a:buNone/>
            </a:pPr>
            <a:r>
              <a:rPr lang="en" sz="2000" b="0" dirty="0">
                <a:solidFill>
                  <a:srgbClr val="262626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  Assistant Professor, Dept. of CSE</a:t>
            </a:r>
            <a:br>
              <a:rPr lang="en" sz="2000" b="0" dirty="0">
                <a:solidFill>
                  <a:srgbClr val="262626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</a:br>
            <a:br>
              <a:rPr lang="en" sz="2000" dirty="0">
                <a:solidFill>
                  <a:srgbClr val="262626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</a:br>
            <a:endParaRPr dirty="0"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357580" y="3009485"/>
            <a:ext cx="7199266" cy="17557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262626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	                              </a:t>
            </a:r>
            <a:r>
              <a:rPr lang="en" sz="2200" b="1" u="sng" dirty="0">
                <a:solidFill>
                  <a:srgbClr val="262626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Submitted by:</a:t>
            </a:r>
          </a:p>
          <a:p>
            <a:pPr marL="0" indent="457200" algn="l"/>
            <a:r>
              <a:rPr lang="en" b="1" dirty="0">
                <a:solidFill>
                  <a:srgbClr val="262626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Mashruful</a:t>
            </a:r>
            <a:r>
              <a:rPr lang="en-US" b="1" dirty="0">
                <a:solidFill>
                  <a:srgbClr val="262626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 Hasan</a:t>
            </a:r>
            <a:r>
              <a:rPr lang="en" b="1" dirty="0">
                <a:solidFill>
                  <a:srgbClr val="262626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                 </a:t>
            </a:r>
            <a:r>
              <a:rPr lang="en-US" b="1" dirty="0">
                <a:solidFill>
                  <a:srgbClr val="262626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Md Shahadat Hossain</a:t>
            </a:r>
            <a:r>
              <a:rPr lang="en" b="1" dirty="0">
                <a:solidFill>
                  <a:srgbClr val="262626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	           </a:t>
            </a:r>
            <a:r>
              <a:rPr lang="en-US" b="1" dirty="0" err="1">
                <a:solidFill>
                  <a:srgbClr val="262626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Ornab</a:t>
            </a:r>
            <a:r>
              <a:rPr lang="en-US" b="1" dirty="0">
                <a:solidFill>
                  <a:srgbClr val="262626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biswass</a:t>
            </a:r>
            <a:endParaRPr lang="en" b="1" dirty="0">
              <a:solidFill>
                <a:srgbClr val="262626"/>
              </a:solidFill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  <a:sym typeface="Roboto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262626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   </a:t>
            </a:r>
            <a:r>
              <a:rPr lang="en" dirty="0">
                <a:solidFill>
                  <a:srgbClr val="262626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ID: 20200000000119	                 ID: 2020000000117		          ID: 2020000000095</a:t>
            </a:r>
            <a:endParaRPr dirty="0">
              <a:solidFill>
                <a:srgbClr val="262626"/>
              </a:solidFill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  <a:sym typeface="Roboto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71428"/>
              <a:buFont typeface="Roboto"/>
              <a:buNone/>
            </a:pPr>
            <a:r>
              <a:rPr lang="en" dirty="0">
                <a:solidFill>
                  <a:srgbClr val="262626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	 Batch: 54		    Batch: 54	                              Batch: 54</a:t>
            </a:r>
            <a:br>
              <a:rPr lang="en" dirty="0">
                <a:solidFill>
                  <a:srgbClr val="262626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</a:br>
            <a:endParaRPr b="1" dirty="0">
              <a:solidFill>
                <a:srgbClr val="262626"/>
              </a:solidFill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  <a:sym typeface="Roboto"/>
            </a:endParaRPr>
          </a:p>
        </p:txBody>
      </p:sp>
      <p:pic>
        <p:nvPicPr>
          <p:cNvPr id="56" name="Google Shape;56;p13" descr="A logo of a candle and a book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04765" y="304279"/>
            <a:ext cx="797875" cy="79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ctrTitle"/>
          </p:nvPr>
        </p:nvSpPr>
        <p:spPr>
          <a:xfrm>
            <a:off x="1763023" y="589794"/>
            <a:ext cx="6613450" cy="206980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br>
              <a:rPr lang="en-US" sz="2400" b="1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</a:br>
            <a:r>
              <a:rPr lang="en-US" sz="3200" b="1" dirty="0">
                <a:solidFill>
                  <a:srgbClr val="002060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Research Topic</a:t>
            </a:r>
            <a:br>
              <a:rPr lang="en-US" sz="2400" b="1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</a:br>
            <a:br>
              <a:rPr lang="en-US" sz="2400" b="1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</a:br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Breast Cancer Classification Using Machine Learning Algorithms</a:t>
            </a:r>
            <a:endParaRPr sz="2400" b="1" dirty="0">
              <a:solidFill>
                <a:schemeClr val="accent3">
                  <a:lumMod val="50000"/>
                </a:schemeClr>
              </a:solidFill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1277634" y="558919"/>
            <a:ext cx="2532366" cy="5352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chemeClr val="accent6">
                    <a:lumMod val="50000"/>
                  </a:schemeClr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Contents</a:t>
            </a:r>
            <a:endParaRPr sz="2200" b="1" dirty="0">
              <a:solidFill>
                <a:schemeClr val="accent6">
                  <a:lumMod val="50000"/>
                </a:schemeClr>
              </a:solidFill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dirty="0">
              <a:solidFill>
                <a:srgbClr val="000000"/>
              </a:solidFill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  <a:sym typeface="Roboto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996592" y="1243862"/>
            <a:ext cx="5289908" cy="2790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❖"/>
            </a:pPr>
            <a:r>
              <a:rPr lang="en" sz="2400" b="1" dirty="0">
                <a:solidFill>
                  <a:schemeClr val="accent4">
                    <a:lumMod val="75000"/>
                  </a:schemeClr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Introduction</a:t>
            </a:r>
            <a:endParaRPr sz="2400" b="1" dirty="0">
              <a:solidFill>
                <a:schemeClr val="accent4">
                  <a:lumMod val="75000"/>
                </a:schemeClr>
              </a:solidFill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❖"/>
            </a:pPr>
            <a:r>
              <a:rPr lang="en" sz="2400" b="1" dirty="0">
                <a:solidFill>
                  <a:schemeClr val="accent4">
                    <a:lumMod val="75000"/>
                  </a:schemeClr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Objectives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❖"/>
            </a:pPr>
            <a:r>
              <a:rPr lang="en" sz="2400" b="1" dirty="0">
                <a:solidFill>
                  <a:schemeClr val="accent4">
                    <a:lumMod val="75000"/>
                  </a:schemeClr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Related Works</a:t>
            </a:r>
            <a:endParaRPr sz="2400" b="1" dirty="0">
              <a:solidFill>
                <a:schemeClr val="accent4">
                  <a:lumMod val="75000"/>
                </a:schemeClr>
              </a:solidFill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❖"/>
            </a:pPr>
            <a:r>
              <a:rPr lang="en" sz="2400" b="1" dirty="0">
                <a:solidFill>
                  <a:schemeClr val="accent4">
                    <a:lumMod val="75000"/>
                  </a:schemeClr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Methodology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❖"/>
            </a:pPr>
            <a:r>
              <a:rPr lang="en" sz="2400" b="1" dirty="0">
                <a:solidFill>
                  <a:schemeClr val="accent4">
                    <a:lumMod val="75000"/>
                  </a:schemeClr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Result and Discussion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❖"/>
            </a:pPr>
            <a:r>
              <a:rPr lang="en" sz="2400" b="1" dirty="0">
                <a:solidFill>
                  <a:schemeClr val="accent4">
                    <a:lumMod val="75000"/>
                  </a:schemeClr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Conclusion</a:t>
            </a:r>
            <a:endParaRPr sz="2400" b="1" dirty="0">
              <a:solidFill>
                <a:schemeClr val="accent4">
                  <a:lumMod val="75000"/>
                </a:schemeClr>
              </a:solidFill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❖"/>
            </a:pPr>
            <a:r>
              <a:rPr lang="en" sz="2400" b="1" dirty="0">
                <a:solidFill>
                  <a:schemeClr val="accent4">
                    <a:lumMod val="75000"/>
                  </a:schemeClr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Reference</a:t>
            </a:r>
            <a:endParaRPr sz="2000" b="1" dirty="0">
              <a:solidFill>
                <a:schemeClr val="accent4">
                  <a:lumMod val="75000"/>
                </a:schemeClr>
              </a:solidFill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727650" y="47795"/>
            <a:ext cx="2891850" cy="5688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Introduction</a:t>
            </a:r>
            <a:endParaRPr sz="3200" b="1" dirty="0"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  <a:sym typeface="Roboto"/>
            </a:endParaRPr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784357" y="697403"/>
            <a:ext cx="7871963" cy="37907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23850">
              <a:buClr>
                <a:schemeClr val="dk1"/>
              </a:buClr>
              <a:buSzPts val="1500"/>
              <a:buFont typeface="Roboto"/>
              <a:buChar char="●"/>
            </a:pPr>
            <a:r>
              <a:rPr lang="en-US" sz="1600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</a:rPr>
              <a:t>Breast cancer is the second most common cancer after lung cancer and one of the main causes of women's death worldwide. </a:t>
            </a:r>
            <a:endParaRPr sz="1600" dirty="0"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  <a:sym typeface="Roboto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600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Difficulty in identifying breast cancer at early stage</a:t>
            </a: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600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Two types of breast cancer : </a:t>
            </a:r>
            <a:r>
              <a:rPr lang="en" sz="1600" b="1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1.</a:t>
            </a:r>
            <a:r>
              <a:rPr lang="en-US" sz="1600" b="1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malignant and 2. Benign</a:t>
            </a:r>
            <a:endParaRPr sz="1600" b="1" dirty="0"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  <a:sym typeface="Roboto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600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Aid of classification algorithms </a:t>
            </a:r>
            <a:endParaRPr sz="1600" dirty="0"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  <a:sym typeface="Roboto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600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Algorithms applied:</a:t>
            </a:r>
          </a:p>
          <a:p>
            <a:pPr marL="1219200" lvl="2" indent="-171450">
              <a:buClr>
                <a:schemeClr val="dk1"/>
              </a:buClr>
              <a:buSzPts val="1500"/>
              <a:buFont typeface="Courier New" panose="02070309020205020404" pitchFamily="49" charset="0"/>
              <a:buChar char="o"/>
            </a:pPr>
            <a:r>
              <a:rPr lang="en" sz="1400" b="1" i="1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K-Nearest Neighbor</a:t>
            </a:r>
          </a:p>
          <a:p>
            <a:pPr marL="1219200" lvl="2" indent="-171450">
              <a:buClr>
                <a:schemeClr val="dk1"/>
              </a:buClr>
              <a:buSzPts val="1500"/>
              <a:buFont typeface="Courier New" panose="02070309020205020404" pitchFamily="49" charset="0"/>
              <a:buChar char="o"/>
            </a:pPr>
            <a:r>
              <a:rPr lang="en" sz="1400" b="1" i="1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Decision Tree</a:t>
            </a:r>
          </a:p>
          <a:p>
            <a:pPr marL="1219200" lvl="2" indent="-171450">
              <a:buClr>
                <a:schemeClr val="dk1"/>
              </a:buClr>
              <a:buSzPts val="1500"/>
              <a:buFont typeface="Courier New" panose="02070309020205020404" pitchFamily="49" charset="0"/>
              <a:buChar char="o"/>
            </a:pPr>
            <a:r>
              <a:rPr lang="en" sz="1400" b="1" i="1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Random Forest Classifier</a:t>
            </a:r>
          </a:p>
          <a:p>
            <a:pPr marL="1219200" lvl="2" indent="-171450">
              <a:buClr>
                <a:schemeClr val="dk1"/>
              </a:buClr>
              <a:buSzPts val="1500"/>
              <a:buFont typeface="Courier New" panose="02070309020205020404" pitchFamily="49" charset="0"/>
              <a:buChar char="o"/>
            </a:pPr>
            <a:r>
              <a:rPr lang="en-US" sz="1400" b="1" i="1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Naive Bayes Classifier</a:t>
            </a:r>
          </a:p>
          <a:p>
            <a:pPr marL="1219200" lvl="2" indent="-171450">
              <a:buClr>
                <a:schemeClr val="dk1"/>
              </a:buClr>
              <a:buSzPts val="1500"/>
              <a:buFont typeface="Courier New" panose="02070309020205020404" pitchFamily="49" charset="0"/>
              <a:buChar char="o"/>
            </a:pPr>
            <a:r>
              <a:rPr lang="en-US" sz="1400" b="1" i="1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Logistic Regression</a:t>
            </a:r>
            <a:endParaRPr sz="1400" b="1" i="1" dirty="0"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  <a:sym typeface="Roboto"/>
            </a:endParaRPr>
          </a:p>
          <a:p>
            <a:pPr marL="457200" lvl="0" indent="-323850" algn="l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n" sz="1600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Algorithms applied on the WDBC dataset.</a:t>
            </a:r>
            <a:endParaRPr sz="1600" dirty="0"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  <a:sym typeface="Roboto"/>
            </a:endParaRPr>
          </a:p>
          <a:p>
            <a:pPr marL="2743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  <a:sym typeface="Roboto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600" dirty="0"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2769810" y="365833"/>
            <a:ext cx="2952810" cy="5727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 b="1" dirty="0">
                <a:solidFill>
                  <a:srgbClr val="000000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Objectives</a:t>
            </a:r>
            <a:endParaRPr sz="3000" b="1" dirty="0"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87" name="Google Shape;87;p18"/>
          <p:cNvSpPr txBox="1">
            <a:spLocks noGrp="1"/>
          </p:cNvSpPr>
          <p:nvPr>
            <p:ph type="body" idx="1"/>
          </p:nvPr>
        </p:nvSpPr>
        <p:spPr>
          <a:xfrm>
            <a:off x="727650" y="1170824"/>
            <a:ext cx="7688700" cy="33204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23850" algn="just">
              <a:buClr>
                <a:srgbClr val="000000"/>
              </a:buClr>
              <a:buSzPts val="1500"/>
              <a:buFont typeface="Roboto"/>
              <a:buChar char="●"/>
            </a:pPr>
            <a:r>
              <a:rPr lang="en-US" sz="1800" b="1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Early prediction can slow down the progress of the disease and reduce the mortality rate through appropriate therapeutic interventions at the right time.</a:t>
            </a:r>
          </a:p>
          <a:p>
            <a:pPr marL="457200" lvl="0" indent="-32385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oboto"/>
              <a:buChar char="●"/>
            </a:pPr>
            <a:r>
              <a:rPr lang="en" sz="1800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Develop a classification algorithm that can effectively predict and classify the </a:t>
            </a:r>
            <a:r>
              <a:rPr lang="en-US" sz="1800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breast cancer</a:t>
            </a:r>
            <a:r>
              <a:rPr lang="en" sz="1800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.</a:t>
            </a:r>
            <a:endParaRPr sz="1800" dirty="0"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  <a:sym typeface="Roboto"/>
            </a:endParaRPr>
          </a:p>
          <a:p>
            <a:pPr lvl="0" indent="-323850" algn="just">
              <a:buClr>
                <a:srgbClr val="000000"/>
              </a:buClr>
              <a:buSzPts val="1500"/>
              <a:buFont typeface="Roboto"/>
              <a:buChar char="●"/>
            </a:pPr>
            <a:r>
              <a:rPr lang="en-US" sz="1800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Find out the highest  accuracy.</a:t>
            </a:r>
          </a:p>
          <a:p>
            <a:pPr marL="457200" lvl="0" indent="-32385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oboto"/>
              <a:buChar char="●"/>
            </a:pPr>
            <a:r>
              <a:rPr lang="en" sz="1800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Calculate the performance of classification algorithms.</a:t>
            </a:r>
          </a:p>
          <a:p>
            <a:pPr indent="-323850" algn="just">
              <a:buClr>
                <a:srgbClr val="000000"/>
              </a:buClr>
              <a:buSzPts val="1500"/>
              <a:buFont typeface="Roboto"/>
              <a:buChar char="●"/>
            </a:pPr>
            <a:r>
              <a:rPr lang="en-US" sz="1800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</a:rPr>
              <a:t>Compare the effectiveness. </a:t>
            </a:r>
            <a:endParaRPr sz="1800" dirty="0"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  <a:sym typeface="Roboto"/>
            </a:endParaRPr>
          </a:p>
          <a:p>
            <a:pPr marL="457200" lvl="0" indent="-32385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Roboto"/>
              <a:buChar char="●"/>
            </a:pPr>
            <a:r>
              <a:rPr lang="en" sz="1800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Produce reliable results.</a:t>
            </a:r>
            <a:endParaRPr sz="1800" dirty="0"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>
            <a:spLocks noGrp="1"/>
          </p:cNvSpPr>
          <p:nvPr>
            <p:ph type="title"/>
          </p:nvPr>
        </p:nvSpPr>
        <p:spPr>
          <a:xfrm>
            <a:off x="2677069" y="20555"/>
            <a:ext cx="2948816" cy="51919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 b="1" dirty="0">
                <a:solidFill>
                  <a:schemeClr val="accent4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</a:rPr>
              <a:t>Related Works</a:t>
            </a:r>
            <a:endParaRPr sz="3200" b="1" dirty="0">
              <a:solidFill>
                <a:schemeClr val="accent4"/>
              </a:solidFill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BCD07AA-6745-4334-8A2C-C411C861E0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7918465"/>
              </p:ext>
            </p:extLst>
          </p:nvPr>
        </p:nvGraphicFramePr>
        <p:xfrm>
          <a:off x="85240" y="539748"/>
          <a:ext cx="8967320" cy="4069627"/>
        </p:xfrm>
        <a:graphic>
          <a:graphicData uri="http://schemas.openxmlformats.org/drawingml/2006/table">
            <a:tbl>
              <a:tblPr firstRow="1" bandRow="1">
                <a:tableStyleId>{E0E9E9C3-ED60-44D1-B130-2C6947555B91}</a:tableStyleId>
              </a:tblPr>
              <a:tblGrid>
                <a:gridCol w="1793464">
                  <a:extLst>
                    <a:ext uri="{9D8B030D-6E8A-4147-A177-3AD203B41FA5}">
                      <a16:colId xmlns:a16="http://schemas.microsoft.com/office/drawing/2014/main" val="3310272270"/>
                    </a:ext>
                  </a:extLst>
                </a:gridCol>
                <a:gridCol w="1793464">
                  <a:extLst>
                    <a:ext uri="{9D8B030D-6E8A-4147-A177-3AD203B41FA5}">
                      <a16:colId xmlns:a16="http://schemas.microsoft.com/office/drawing/2014/main" val="2685701982"/>
                    </a:ext>
                  </a:extLst>
                </a:gridCol>
                <a:gridCol w="1793464">
                  <a:extLst>
                    <a:ext uri="{9D8B030D-6E8A-4147-A177-3AD203B41FA5}">
                      <a16:colId xmlns:a16="http://schemas.microsoft.com/office/drawing/2014/main" val="577516322"/>
                    </a:ext>
                  </a:extLst>
                </a:gridCol>
                <a:gridCol w="1793464">
                  <a:extLst>
                    <a:ext uri="{9D8B030D-6E8A-4147-A177-3AD203B41FA5}">
                      <a16:colId xmlns:a16="http://schemas.microsoft.com/office/drawing/2014/main" val="3407480730"/>
                    </a:ext>
                  </a:extLst>
                </a:gridCol>
                <a:gridCol w="1793464">
                  <a:extLst>
                    <a:ext uri="{9D8B030D-6E8A-4147-A177-3AD203B41FA5}">
                      <a16:colId xmlns:a16="http://schemas.microsoft.com/office/drawing/2014/main" val="3257349474"/>
                    </a:ext>
                  </a:extLst>
                </a:gridCol>
              </a:tblGrid>
              <a:tr h="568635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2060"/>
                          </a:solidFill>
                          <a:latin typeface="Roboto" panose="020B0604020202020204" charset="0"/>
                          <a:ea typeface="Roboto" panose="020B0604020202020204" charset="0"/>
                        </a:rPr>
                        <a:t>Ref.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2060"/>
                          </a:solidFill>
                          <a:latin typeface="Roboto" panose="020B0604020202020204" charset="0"/>
                          <a:ea typeface="Roboto" panose="020B0604020202020204" charset="0"/>
                        </a:rPr>
                        <a:t>Name And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2060"/>
                          </a:solidFill>
                          <a:latin typeface="Roboto" panose="020B0604020202020204" charset="0"/>
                          <a:ea typeface="Roboto" panose="020B0604020202020204" charset="0"/>
                        </a:rPr>
                        <a:t>Datasets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2060"/>
                          </a:solidFill>
                          <a:latin typeface="Roboto" panose="020B0604020202020204" charset="0"/>
                          <a:ea typeface="Roboto" panose="020B0604020202020204" charset="0"/>
                        </a:rPr>
                        <a:t>Algorithms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2060"/>
                          </a:solidFill>
                          <a:latin typeface="Roboto" panose="020B0604020202020204" charset="0"/>
                          <a:ea typeface="Roboto" panose="020B0604020202020204" charset="0"/>
                        </a:rPr>
                        <a:t>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168406"/>
                  </a:ext>
                </a:extLst>
              </a:tr>
              <a:tr h="66001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Roboto" panose="020B0604020202020204" charset="0"/>
                          <a:ea typeface="Roboto" panose="020B0604020202020204" charset="0"/>
                        </a:rPr>
                        <a:t>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Roboto" panose="020B0604020202020204" charset="0"/>
                          <a:ea typeface="Roboto" panose="020B0604020202020204" charset="0"/>
                        </a:rPr>
                        <a:t>Rasool et al,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Roboto" panose="020B0604020202020204" charset="0"/>
                          <a:ea typeface="Roboto" panose="020B0604020202020204" charset="0"/>
                        </a:rPr>
                        <a:t>WDBC and BCCD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solidFill>
                            <a:srgbClr val="00B050"/>
                          </a:solidFill>
                          <a:latin typeface="Roboto" panose="020B0604020202020204" charset="0"/>
                          <a:ea typeface="Roboto" panose="020B0604020202020204" charset="0"/>
                        </a:rPr>
                        <a:t>SVM</a:t>
                      </a:r>
                      <a:r>
                        <a:rPr lang="fr-FR" sz="1200" b="1" dirty="0">
                          <a:latin typeface="Roboto" panose="020B0604020202020204" charset="0"/>
                          <a:ea typeface="Roboto" panose="020B0604020202020204" charset="0"/>
                        </a:rPr>
                        <a:t>, </a:t>
                      </a:r>
                      <a:r>
                        <a:rPr lang="fr-FR" sz="1200" dirty="0">
                          <a:latin typeface="Roboto" panose="020B0604020202020204" charset="0"/>
                          <a:ea typeface="Roboto" panose="020B0604020202020204" charset="0"/>
                        </a:rPr>
                        <a:t>LR, KNN, Ensemble Classifier</a:t>
                      </a:r>
                    </a:p>
                    <a:p>
                      <a:pPr algn="ctr"/>
                      <a:endParaRPr lang="en-US" sz="1400" dirty="0">
                        <a:latin typeface="Roboto" panose="020B0604020202020204" charset="0"/>
                        <a:ea typeface="Roboto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200" dirty="0">
                          <a:solidFill>
                            <a:srgbClr val="00B050"/>
                          </a:solidFill>
                          <a:latin typeface="Roboto" panose="020B0604020202020204" charset="0"/>
                          <a:ea typeface="Roboto" panose="020B0604020202020204" charset="0"/>
                        </a:rPr>
                        <a:t>99.3%, </a:t>
                      </a:r>
                      <a:r>
                        <a:rPr lang="pl-PL" sz="1200" dirty="0">
                          <a:latin typeface="Roboto" panose="020B0604020202020204" charset="0"/>
                          <a:ea typeface="Roboto" panose="020B0604020202020204" charset="0"/>
                        </a:rPr>
                        <a:t>98.06%, 97.35%, 97.61%</a:t>
                      </a:r>
                    </a:p>
                    <a:p>
                      <a:pPr algn="ctr"/>
                      <a:endParaRPr lang="en-US" sz="1400" dirty="0">
                        <a:latin typeface="Roboto" panose="020B0604020202020204" charset="0"/>
                        <a:ea typeface="Roboto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973799"/>
                  </a:ext>
                </a:extLst>
              </a:tr>
              <a:tr h="6284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Roboto" panose="020B0604020202020204" charset="0"/>
                          <a:ea typeface="Roboto" panose="020B0604020202020204" charset="0"/>
                        </a:rPr>
                        <a:t>[2]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Roboto" panose="020B0604020202020204" charset="0"/>
                          <a:ea typeface="Roboto" panose="020B0604020202020204" charset="0"/>
                        </a:rPr>
                        <a:t>Roy et al, 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Roboto" panose="020B0604020202020204" charset="0"/>
                          <a:ea typeface="Roboto" panose="020B0604020202020204" charset="0"/>
                        </a:rPr>
                        <a:t>WBC and WDBC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B050"/>
                          </a:solidFill>
                          <a:latin typeface="Roboto" panose="020B0604020202020204" charset="0"/>
                          <a:ea typeface="Roboto" panose="020B0604020202020204" charset="0"/>
                        </a:rPr>
                        <a:t>LR</a:t>
                      </a:r>
                      <a:r>
                        <a:rPr lang="en-US" sz="1400" dirty="0">
                          <a:latin typeface="Roboto" panose="020B0604020202020204" charset="0"/>
                          <a:ea typeface="Roboto" panose="020B0604020202020204" charset="0"/>
                        </a:rPr>
                        <a:t>,KNN,SVM,NB,DT,RF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00B050"/>
                          </a:solidFill>
                          <a:latin typeface="Roboto" panose="020B0604020202020204" charset="0"/>
                          <a:ea typeface="Roboto" panose="020B0604020202020204" charset="0"/>
                        </a:rPr>
                        <a:t>98.245%,</a:t>
                      </a:r>
                      <a:r>
                        <a:rPr lang="en-US" sz="1200" dirty="0">
                          <a:latin typeface="Roboto" panose="020B0604020202020204" charset="0"/>
                          <a:ea typeface="Roboto" panose="020B0604020202020204" charset="0"/>
                        </a:rPr>
                        <a:t>97.368%,98.245%,92.105%,97.368%,</a:t>
                      </a:r>
                    </a:p>
                    <a:p>
                      <a:pPr algn="ctr"/>
                      <a:r>
                        <a:rPr lang="en-US" sz="1200" dirty="0">
                          <a:latin typeface="Roboto" panose="020B0604020202020204" charset="0"/>
                          <a:ea typeface="Roboto" panose="020B0604020202020204" charset="0"/>
                        </a:rPr>
                        <a:t>97.368%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635487"/>
                  </a:ext>
                </a:extLst>
              </a:tr>
              <a:tr h="54758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Roboto" panose="020B0604020202020204" charset="0"/>
                          <a:ea typeface="Roboto" panose="020B0604020202020204" charset="0"/>
                        </a:rPr>
                        <a:t>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Roboto" panose="020B0604020202020204" charset="0"/>
                          <a:ea typeface="Roboto" panose="020B0604020202020204" charset="0"/>
                        </a:rPr>
                        <a:t>Roy et al,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Roboto" panose="020B0604020202020204" charset="0"/>
                          <a:ea typeface="Roboto" panose="020B0604020202020204" charset="0"/>
                        </a:rPr>
                        <a:t>WBC and WDBC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Roboto" panose="020B0604020202020204" charset="0"/>
                          <a:ea typeface="Roboto" panose="020B0604020202020204" charset="0"/>
                        </a:rPr>
                        <a:t>NB,SVM,KNN,</a:t>
                      </a:r>
                      <a:r>
                        <a:rPr lang="en-US" sz="1400" b="1" dirty="0">
                          <a:solidFill>
                            <a:srgbClr val="00B050"/>
                          </a:solidFill>
                          <a:latin typeface="Roboto" panose="020B0604020202020204" charset="0"/>
                          <a:ea typeface="Roboto" panose="020B0604020202020204" charset="0"/>
                        </a:rPr>
                        <a:t>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Roboto" panose="020B0604020202020204" charset="0"/>
                          <a:ea typeface="Roboto" panose="020B0604020202020204" charset="0"/>
                        </a:rPr>
                        <a:t>92%,96%,97%,</a:t>
                      </a:r>
                      <a:r>
                        <a:rPr lang="en-US" sz="1400" dirty="0">
                          <a:solidFill>
                            <a:srgbClr val="00B050"/>
                          </a:solidFill>
                          <a:latin typeface="Roboto" panose="020B0604020202020204" charset="0"/>
                          <a:ea typeface="Roboto" panose="020B0604020202020204" charset="0"/>
                        </a:rPr>
                        <a:t>99%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022540"/>
                  </a:ext>
                </a:extLst>
              </a:tr>
              <a:tr h="54758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Roboto" panose="020B0604020202020204" charset="0"/>
                          <a:ea typeface="Roboto" panose="020B0604020202020204" charset="0"/>
                        </a:rPr>
                        <a:t>[4]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Roboto" panose="020B0604020202020204" charset="0"/>
                          <a:ea typeface="Roboto" panose="020B0604020202020204" charset="0"/>
                        </a:rPr>
                        <a:t>Rajaguru</a:t>
                      </a:r>
                      <a:r>
                        <a:rPr lang="en-US" sz="1400" dirty="0">
                          <a:latin typeface="Roboto" panose="020B0604020202020204" charset="0"/>
                          <a:ea typeface="Roboto" panose="020B0604020202020204" charset="0"/>
                        </a:rPr>
                        <a:t> et al, 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Roboto" panose="020B0604020202020204" charset="0"/>
                          <a:ea typeface="Roboto" panose="020B0604020202020204" charset="0"/>
                        </a:rPr>
                        <a:t>WDBC and WBC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Roboto" panose="020B0604020202020204" charset="0"/>
                          <a:ea typeface="Roboto" panose="020B0604020202020204" charset="0"/>
                        </a:rPr>
                        <a:t>DT,</a:t>
                      </a:r>
                      <a:r>
                        <a:rPr lang="en-US" sz="1400" b="1" dirty="0">
                          <a:solidFill>
                            <a:srgbClr val="00B050"/>
                          </a:solidFill>
                          <a:latin typeface="Roboto" panose="020B0604020202020204" charset="0"/>
                          <a:ea typeface="Roboto" panose="020B0604020202020204" charset="0"/>
                        </a:rPr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Roboto" panose="020B0604020202020204" charset="0"/>
                          <a:ea typeface="Roboto" panose="020B0604020202020204" charset="0"/>
                        </a:rPr>
                        <a:t>91.23%,</a:t>
                      </a:r>
                      <a:r>
                        <a:rPr lang="en-US" sz="1400" dirty="0">
                          <a:solidFill>
                            <a:srgbClr val="00B050"/>
                          </a:solidFill>
                          <a:latin typeface="Roboto" panose="020B0604020202020204" charset="0"/>
                          <a:ea typeface="Roboto" panose="020B0604020202020204" charset="0"/>
                        </a:rPr>
                        <a:t>95.61%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867436"/>
                  </a:ext>
                </a:extLst>
              </a:tr>
              <a:tr h="54758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Roboto" panose="020B0604020202020204" charset="0"/>
                          <a:ea typeface="Roboto" panose="020B0604020202020204" charset="0"/>
                        </a:rPr>
                        <a:t>[5]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Roboto" panose="020B0604020202020204" charset="0"/>
                          <a:ea typeface="Roboto" panose="020B0604020202020204" charset="0"/>
                        </a:rPr>
                        <a:t>Gupta et al, 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Roboto" panose="020B0604020202020204" charset="0"/>
                          <a:ea typeface="Roboto" panose="020B0604020202020204" charset="0"/>
                        </a:rPr>
                        <a:t>WDBC and WBC</a:t>
                      </a:r>
                    </a:p>
                    <a:p>
                      <a:pPr algn="ctr"/>
                      <a:endParaRPr lang="en-US" sz="1400" dirty="0">
                        <a:latin typeface="Roboto" panose="020B0604020202020204" charset="0"/>
                        <a:ea typeface="Roboto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B050"/>
                          </a:solidFill>
                          <a:latin typeface="Roboto" panose="020B0604020202020204" charset="0"/>
                          <a:ea typeface="Roboto" panose="020B0604020202020204" charset="0"/>
                        </a:rPr>
                        <a:t>MLP</a:t>
                      </a:r>
                      <a:r>
                        <a:rPr lang="en-US" sz="1400" dirty="0">
                          <a:latin typeface="Roboto" panose="020B0604020202020204" charset="0"/>
                          <a:ea typeface="Roboto" panose="020B0604020202020204" charset="0"/>
                        </a:rPr>
                        <a:t>,DT,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Roboto" panose="020B0604020202020204" charset="0"/>
                          <a:ea typeface="Roboto" panose="020B0604020202020204" charset="0"/>
                        </a:rPr>
                        <a:t>SVM</a:t>
                      </a:r>
                      <a:r>
                        <a:rPr lang="en-US" sz="1400" dirty="0">
                          <a:latin typeface="Roboto" panose="020B0604020202020204" charset="0"/>
                          <a:ea typeface="Roboto" panose="020B0604020202020204" charset="0"/>
                        </a:rPr>
                        <a:t>,KNN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B050"/>
                          </a:solidFill>
                          <a:latin typeface="Roboto" panose="020B0604020202020204" charset="0"/>
                          <a:ea typeface="Roboto" panose="020B0604020202020204" charset="0"/>
                        </a:rPr>
                        <a:t>97.7%,</a:t>
                      </a:r>
                      <a:r>
                        <a:rPr lang="en-US" sz="1400" dirty="0">
                          <a:latin typeface="Roboto" panose="020B0604020202020204" charset="0"/>
                          <a:ea typeface="Roboto" panose="020B0604020202020204" charset="0"/>
                        </a:rPr>
                        <a:t>90.9%,93.9%,94.4%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419603"/>
                  </a:ext>
                </a:extLst>
              </a:tr>
              <a:tr h="54758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Roboto" panose="020B0604020202020204" charset="0"/>
                          <a:ea typeface="Roboto" panose="020B0604020202020204" charset="0"/>
                        </a:rPr>
                        <a:t>[6]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Roboto" panose="020B0604020202020204" charset="0"/>
                          <a:ea typeface="Roboto" panose="020B0604020202020204" charset="0"/>
                        </a:rPr>
                        <a:t>Ertel</a:t>
                      </a:r>
                      <a:r>
                        <a:rPr lang="en-US" sz="1400" dirty="0">
                          <a:latin typeface="Roboto" panose="020B0604020202020204" charset="0"/>
                          <a:ea typeface="Roboto" panose="020B0604020202020204" charset="0"/>
                        </a:rPr>
                        <a:t> </a:t>
                      </a:r>
                      <a:r>
                        <a:rPr lang="en-US" sz="1400" dirty="0" err="1">
                          <a:latin typeface="Roboto" panose="020B0604020202020204" charset="0"/>
                          <a:ea typeface="Roboto" panose="020B0604020202020204" charset="0"/>
                        </a:rPr>
                        <a:t>Merouane</a:t>
                      </a:r>
                      <a:r>
                        <a:rPr lang="en-US" sz="1400" dirty="0">
                          <a:latin typeface="Roboto" panose="020B0604020202020204" charset="0"/>
                          <a:ea typeface="Roboto" panose="020B0604020202020204" charset="0"/>
                        </a:rPr>
                        <a:t>,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Roboto" panose="020B0604020202020204" charset="0"/>
                          <a:ea typeface="Roboto" panose="020B0604020202020204" charset="0"/>
                        </a:rPr>
                        <a:t>WBC and WDBC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B050"/>
                          </a:solidFill>
                          <a:latin typeface="Roboto" panose="020B0604020202020204" charset="0"/>
                          <a:ea typeface="Roboto" panose="020B0604020202020204" charset="0"/>
                        </a:rPr>
                        <a:t>SVM</a:t>
                      </a:r>
                      <a:r>
                        <a:rPr lang="en-US" sz="1400" dirty="0">
                          <a:latin typeface="Roboto" panose="020B0604020202020204" charset="0"/>
                          <a:ea typeface="Roboto" panose="020B0604020202020204" charset="0"/>
                        </a:rPr>
                        <a:t>,KNN,LR,NB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00B050"/>
                          </a:solidFill>
                          <a:latin typeface="Roboto" panose="020B0604020202020204" charset="0"/>
                          <a:ea typeface="Roboto" panose="020B0604020202020204" charset="0"/>
                        </a:rPr>
                        <a:t>90.6%,</a:t>
                      </a:r>
                      <a:r>
                        <a:rPr lang="en-US" sz="1400" dirty="0">
                          <a:latin typeface="Roboto" panose="020B0604020202020204" charset="0"/>
                          <a:ea typeface="Roboto" panose="020B0604020202020204" charset="0"/>
                        </a:rPr>
                        <a:t>86.1%,80.6%,51.7%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20794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>
            <a:spLocks noGrp="1"/>
          </p:cNvSpPr>
          <p:nvPr>
            <p:ph type="title"/>
          </p:nvPr>
        </p:nvSpPr>
        <p:spPr>
          <a:xfrm>
            <a:off x="253844" y="151783"/>
            <a:ext cx="2723002" cy="5727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rgbClr val="002060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</a:rPr>
              <a:t>Methodology</a:t>
            </a:r>
            <a:endParaRPr sz="3200" b="1" dirty="0">
              <a:solidFill>
                <a:srgbClr val="002060"/>
              </a:solidFill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450;p8">
            <a:extLst>
              <a:ext uri="{FF2B5EF4-FFF2-40B4-BE49-F238E27FC236}">
                <a16:creationId xmlns:a16="http://schemas.microsoft.com/office/drawing/2014/main" id="{7307ED17-F3FD-4A48-8383-E48BC18E947F}"/>
              </a:ext>
            </a:extLst>
          </p:cNvPr>
          <p:cNvSpPr txBox="1"/>
          <p:nvPr/>
        </p:nvSpPr>
        <p:spPr>
          <a:xfrm>
            <a:off x="0" y="1158497"/>
            <a:ext cx="323069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609585" marR="0" lvl="0" indent="-4741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❖"/>
            </a:pPr>
            <a:r>
              <a:rPr lang="en-US" sz="2000" b="1" i="0" u="none" strike="noStrike" cap="none" dirty="0">
                <a:solidFill>
                  <a:schemeClr val="accent4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Times New Roman"/>
              </a:rPr>
              <a:t>Data Collection</a:t>
            </a:r>
            <a:endParaRPr dirty="0">
              <a:solidFill>
                <a:schemeClr val="accent4"/>
              </a:solidFill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</a:endParaRPr>
          </a:p>
          <a:p>
            <a:pPr marL="609585" marR="0" lvl="0" indent="-4741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❖"/>
            </a:pPr>
            <a:r>
              <a:rPr lang="en-US" sz="2000" b="1" i="0" u="none" strike="noStrike" cap="none" dirty="0">
                <a:solidFill>
                  <a:schemeClr val="accent4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Times New Roman"/>
              </a:rPr>
              <a:t>Data Pre-processing</a:t>
            </a:r>
            <a:endParaRPr dirty="0">
              <a:solidFill>
                <a:schemeClr val="accent4"/>
              </a:solidFill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</a:endParaRPr>
          </a:p>
          <a:p>
            <a:pPr marL="609585" marR="0" lvl="0" indent="-4741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❖"/>
            </a:pPr>
            <a:r>
              <a:rPr lang="en-US" sz="2000" b="1" i="0" u="none" strike="noStrike" cap="none" dirty="0">
                <a:solidFill>
                  <a:schemeClr val="accent4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Times New Roman"/>
              </a:rPr>
              <a:t>Algorithm Used</a:t>
            </a:r>
            <a:endParaRPr dirty="0">
              <a:solidFill>
                <a:schemeClr val="accent4"/>
              </a:solidFill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9" name="Google Shape;451;p8">
            <a:extLst>
              <a:ext uri="{FF2B5EF4-FFF2-40B4-BE49-F238E27FC236}">
                <a16:creationId xmlns:a16="http://schemas.microsoft.com/office/drawing/2014/main" id="{E0D40669-0E62-4C81-B0A0-2C0DC67B23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22908" y="61993"/>
            <a:ext cx="5943600" cy="463399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446;p8">
            <a:extLst>
              <a:ext uri="{FF2B5EF4-FFF2-40B4-BE49-F238E27FC236}">
                <a16:creationId xmlns:a16="http://schemas.microsoft.com/office/drawing/2014/main" id="{BBBB18B5-A72B-46C0-9A07-7A20F6EC5AB4}"/>
              </a:ext>
            </a:extLst>
          </p:cNvPr>
          <p:cNvSpPr txBox="1"/>
          <p:nvPr/>
        </p:nvSpPr>
        <p:spPr>
          <a:xfrm>
            <a:off x="3376728" y="4742953"/>
            <a:ext cx="5056715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imes New Roman"/>
              <a:buNone/>
            </a:pPr>
            <a:r>
              <a:rPr lang="en-US" sz="1400" b="1" i="0" u="none" strike="noStrike" cap="none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Times New Roman"/>
              </a:rPr>
              <a:t>Figure 1. Model For Researched System</a:t>
            </a:r>
            <a:endParaRPr sz="1400" b="0" i="0" u="none" strike="noStrike" cap="none" dirty="0"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459;p9">
            <a:extLst>
              <a:ext uri="{FF2B5EF4-FFF2-40B4-BE49-F238E27FC236}">
                <a16:creationId xmlns:a16="http://schemas.microsoft.com/office/drawing/2014/main" id="{F351F02E-0AB8-4E05-96D9-20234A7E6D67}"/>
              </a:ext>
            </a:extLst>
          </p:cNvPr>
          <p:cNvSpPr/>
          <p:nvPr/>
        </p:nvSpPr>
        <p:spPr>
          <a:xfrm>
            <a:off x="667543" y="209646"/>
            <a:ext cx="4407377" cy="751249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FFDC9B"/>
              </a:gs>
              <a:gs pos="50000">
                <a:srgbClr val="FFD68D"/>
              </a:gs>
              <a:gs pos="100000">
                <a:srgbClr val="FFD478"/>
              </a:gs>
            </a:gsLst>
            <a:lin ang="5400000" scaled="0"/>
          </a:gradFill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2700"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</a:pPr>
            <a:r>
              <a:rPr lang="en-US" sz="3600" b="1" dirty="0">
                <a:solidFill>
                  <a:schemeClr val="dk1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Times New Roman"/>
              </a:rPr>
              <a:t>Data</a:t>
            </a:r>
            <a:r>
              <a:rPr lang="en-US" sz="3600" b="1" dirty="0">
                <a:solidFill>
                  <a:schemeClr val="lt1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3600" b="1" dirty="0">
                <a:solidFill>
                  <a:schemeClr val="dk1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Times New Roman"/>
              </a:rPr>
              <a:t>Collection</a:t>
            </a:r>
            <a:endParaRPr sz="1400" dirty="0"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0" name="Google Shape;457;p9">
            <a:extLst>
              <a:ext uri="{FF2B5EF4-FFF2-40B4-BE49-F238E27FC236}">
                <a16:creationId xmlns:a16="http://schemas.microsoft.com/office/drawing/2014/main" id="{CEAD8D42-2AC7-4CE3-8BD9-3779A13E629C}"/>
              </a:ext>
            </a:extLst>
          </p:cNvPr>
          <p:cNvSpPr txBox="1"/>
          <p:nvPr/>
        </p:nvSpPr>
        <p:spPr>
          <a:xfrm>
            <a:off x="1046394" y="1165665"/>
            <a:ext cx="7641265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accent4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aleway SemiBold"/>
              </a:rPr>
              <a:t>Wisconsin Breast Cancer Dataset (WDBC)</a:t>
            </a:r>
            <a:endParaRPr sz="2800" dirty="0">
              <a:solidFill>
                <a:schemeClr val="accent4"/>
              </a:solidFill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1" name="Google Shape;458;p9">
            <a:extLst>
              <a:ext uri="{FF2B5EF4-FFF2-40B4-BE49-F238E27FC236}">
                <a16:creationId xmlns:a16="http://schemas.microsoft.com/office/drawing/2014/main" id="{A8D98F21-5616-4E0F-8B16-9A74C6BAE6F1}"/>
              </a:ext>
            </a:extLst>
          </p:cNvPr>
          <p:cNvSpPr txBox="1"/>
          <p:nvPr/>
        </p:nvSpPr>
        <p:spPr>
          <a:xfrm>
            <a:off x="1934842" y="1961326"/>
            <a:ext cx="4543450" cy="1220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80990" marR="0" lvl="0" indent="-38099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1" dirty="0">
                <a:solidFill>
                  <a:schemeClr val="dk1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Times New Roman"/>
              </a:rPr>
              <a:t>A</a:t>
            </a:r>
            <a:r>
              <a:rPr lang="en-US" sz="2000" b="1" dirty="0">
                <a:solidFill>
                  <a:srgbClr val="000000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Times New Roman"/>
              </a:rPr>
              <a:t>ggregated from Kaggle</a:t>
            </a:r>
            <a:endParaRPr b="1" dirty="0"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</a:endParaRPr>
          </a:p>
          <a:p>
            <a:pPr marL="380990" marR="0" lvl="0" indent="-380990" algn="just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❖"/>
            </a:pPr>
            <a:r>
              <a:rPr lang="en-US" sz="2000" b="1" dirty="0">
                <a:solidFill>
                  <a:srgbClr val="000000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Times New Roman"/>
              </a:rPr>
              <a:t>569 instances </a:t>
            </a:r>
            <a:endParaRPr b="1" dirty="0"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</a:endParaRPr>
          </a:p>
          <a:p>
            <a:pPr marL="380990" marR="0" lvl="0" indent="-380990" algn="just" rtl="0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❖"/>
            </a:pPr>
            <a:r>
              <a:rPr lang="en-US" sz="2000" b="1" dirty="0">
                <a:solidFill>
                  <a:srgbClr val="000000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Times New Roman"/>
              </a:rPr>
              <a:t>32 features.</a:t>
            </a:r>
            <a:endParaRPr sz="2000" b="1" dirty="0">
              <a:solidFill>
                <a:srgbClr val="000000"/>
              </a:solidFill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468;p10">
            <a:extLst>
              <a:ext uri="{FF2B5EF4-FFF2-40B4-BE49-F238E27FC236}">
                <a16:creationId xmlns:a16="http://schemas.microsoft.com/office/drawing/2014/main" id="{CE5664EB-C1DD-454B-8053-443A7193AF2C}"/>
              </a:ext>
            </a:extLst>
          </p:cNvPr>
          <p:cNvSpPr/>
          <p:nvPr/>
        </p:nvSpPr>
        <p:spPr>
          <a:xfrm>
            <a:off x="1656787" y="202363"/>
            <a:ext cx="5658413" cy="704288"/>
          </a:xfrm>
          <a:prstGeom prst="roundRect">
            <a:avLst>
              <a:gd name="adj" fmla="val 16667"/>
            </a:avLst>
          </a:prstGeom>
          <a:ln>
            <a:headEnd type="none" w="sm" len="sm"/>
            <a:tailEnd type="none" w="sm" len="sm"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spcFirstLastPara="1" wrap="square" lIns="91425" tIns="45700" rIns="91425" bIns="45700" anchor="ctr" anchorCtr="0">
            <a:noAutofit/>
          </a:bodyPr>
          <a:lstStyle/>
          <a:p>
            <a:pPr marL="12700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3960"/>
            </a:pPr>
            <a:r>
              <a:rPr lang="en-US" sz="4400" b="1" i="0" u="none" strike="noStrike" cap="none" dirty="0">
                <a:solidFill>
                  <a:schemeClr val="bg1">
                    <a:lumMod val="95000"/>
                  </a:schemeClr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Times New Roman"/>
              </a:rPr>
              <a:t>Dataset Description</a:t>
            </a:r>
            <a:endParaRPr sz="4400" b="1" i="0" u="none" strike="noStrike" cap="none" dirty="0">
              <a:solidFill>
                <a:schemeClr val="bg1">
                  <a:lumMod val="95000"/>
                </a:schemeClr>
              </a:solidFill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  <a:sym typeface="Times New Roman"/>
            </a:endParaRPr>
          </a:p>
        </p:txBody>
      </p:sp>
      <p:graphicFrame>
        <p:nvGraphicFramePr>
          <p:cNvPr id="10" name="Google Shape;467;p10">
            <a:extLst>
              <a:ext uri="{FF2B5EF4-FFF2-40B4-BE49-F238E27FC236}">
                <a16:creationId xmlns:a16="http://schemas.microsoft.com/office/drawing/2014/main" id="{6DE1F10B-26F6-49DA-8E9B-CDE903EBB0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1963686"/>
              </p:ext>
            </p:extLst>
          </p:nvPr>
        </p:nvGraphicFramePr>
        <p:xfrm>
          <a:off x="258206" y="1432624"/>
          <a:ext cx="8823802" cy="2996351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17522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71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914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Roboto" panose="020B0604020202020204" charset="0"/>
                          <a:ea typeface="Roboto" panose="020B0604020202020204" charset="0"/>
                        </a:rPr>
                        <a:t>Feature Name </a:t>
                      </a:r>
                      <a:endParaRPr sz="1900" b="1" u="none" strike="noStrike" cap="none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u="none" strike="noStrike" cap="none" dirty="0">
                          <a:latin typeface="Roboto" panose="020B0604020202020204" charset="0"/>
                          <a:ea typeface="Roboto" panose="020B0604020202020204" charset="0"/>
                        </a:rPr>
                        <a:t>Feature Description</a:t>
                      </a:r>
                      <a:endParaRPr sz="1900" u="none" strike="noStrike" cap="none" dirty="0"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52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Roboto" panose="020B0604020202020204" charset="0"/>
                          <a:ea typeface="Roboto" panose="020B0604020202020204" charset="0"/>
                        </a:rPr>
                        <a:t>Radius</a:t>
                      </a:r>
                      <a:endParaRPr sz="1900" b="1" u="none" strike="noStrike" cap="none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Roboto" panose="020B0604020202020204" charset="0"/>
                          <a:ea typeface="Roboto" panose="020B0604020202020204" charset="0"/>
                        </a:rPr>
                        <a:t>The average distance between the spots at the circumference's center and edges.</a:t>
                      </a:r>
                      <a:endParaRPr sz="1600" u="none" strike="noStrike" cap="none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63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Roboto" panose="020B0604020202020204" charset="0"/>
                          <a:ea typeface="Roboto" panose="020B0604020202020204" charset="0"/>
                        </a:rPr>
                        <a:t>Texture</a:t>
                      </a:r>
                      <a:endParaRPr sz="1900" b="1" u="none" strike="noStrike" cap="none">
                        <a:solidFill>
                          <a:schemeClr val="accent4">
                            <a:lumMod val="75000"/>
                          </a:schemeClr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Roboto" panose="020B0604020202020204" charset="0"/>
                          <a:ea typeface="Roboto" panose="020B0604020202020204" charset="0"/>
                        </a:rPr>
                        <a:t>Grayscale value's SD. Perimeter Gross separation exists between the snake's points.</a:t>
                      </a:r>
                      <a:endParaRPr sz="1600" u="none" strike="noStrike" cap="none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29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Roboto" panose="020B0604020202020204" charset="0"/>
                          <a:ea typeface="Roboto" panose="020B0604020202020204" charset="0"/>
                        </a:rPr>
                        <a:t>Perimeter</a:t>
                      </a:r>
                      <a:endParaRPr sz="1900" b="1" u="none" strike="noStrike" cap="none">
                        <a:solidFill>
                          <a:schemeClr val="accent4">
                            <a:lumMod val="75000"/>
                          </a:schemeClr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Roboto" panose="020B0604020202020204" charset="0"/>
                          <a:ea typeface="Roboto" panose="020B0604020202020204" charset="0"/>
                        </a:rPr>
                        <a:t>Gross separation exists at the snake's tip and between.</a:t>
                      </a:r>
                      <a:endParaRPr sz="1600" u="none" strike="noStrike" cap="none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15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Roboto" panose="020B0604020202020204" charset="0"/>
                          <a:ea typeface="Roboto" panose="020B0604020202020204" charset="0"/>
                        </a:rPr>
                        <a:t>Area</a:t>
                      </a:r>
                      <a:endParaRPr sz="1900" b="1" u="none" strike="noStrike" cap="none">
                        <a:solidFill>
                          <a:schemeClr val="accent4">
                            <a:lumMod val="75000"/>
                          </a:schemeClr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Roboto" panose="020B0604020202020204" charset="0"/>
                          <a:ea typeface="Roboto" panose="020B0604020202020204" charset="0"/>
                        </a:rPr>
                        <a:t>Total amount of pixels inside the snake, plus one-half of each pixel outside its body.</a:t>
                      </a:r>
                      <a:endParaRPr sz="1600" u="none" strike="noStrike" cap="none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707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Roboto" panose="020B0604020202020204" charset="0"/>
                          <a:ea typeface="Roboto" panose="020B0604020202020204" charset="0"/>
                        </a:rPr>
                        <a:t>Smoothness</a:t>
                      </a:r>
                      <a:endParaRPr sz="1900" b="1" u="none" strike="noStrike" cap="none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Roboto" panose="020B0604020202020204" charset="0"/>
                          <a:ea typeface="Roboto" panose="020B0604020202020204" charset="0"/>
                        </a:rPr>
                        <a:t>Measured locally by computing the length difference, the variation in radius length.</a:t>
                      </a:r>
                      <a:endParaRPr sz="1600" u="none" strike="noStrike" cap="none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81;p11">
            <a:extLst>
              <a:ext uri="{FF2B5EF4-FFF2-40B4-BE49-F238E27FC236}">
                <a16:creationId xmlns:a16="http://schemas.microsoft.com/office/drawing/2014/main" id="{C7FBC3F8-8EE3-4E09-868F-0FBC5A4FA705}"/>
              </a:ext>
            </a:extLst>
          </p:cNvPr>
          <p:cNvSpPr/>
          <p:nvPr/>
        </p:nvSpPr>
        <p:spPr>
          <a:xfrm>
            <a:off x="1972881" y="503693"/>
            <a:ext cx="5461707" cy="681927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6E6E6E"/>
              </a:gs>
              <a:gs pos="48000">
                <a:srgbClr val="A7A7A7"/>
              </a:gs>
              <a:gs pos="100000">
                <a:srgbClr val="C9C9C9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3600" b="1" dirty="0">
                <a:solidFill>
                  <a:schemeClr val="dk1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Times New Roman"/>
              </a:rPr>
              <a:t>Data Pre-processing</a:t>
            </a:r>
          </a:p>
        </p:txBody>
      </p:sp>
      <p:sp>
        <p:nvSpPr>
          <p:cNvPr id="7" name="Google Shape;483;p11">
            <a:extLst>
              <a:ext uri="{FF2B5EF4-FFF2-40B4-BE49-F238E27FC236}">
                <a16:creationId xmlns:a16="http://schemas.microsoft.com/office/drawing/2014/main" id="{C084618B-B623-4153-898B-C5A22FDCFA9D}"/>
              </a:ext>
            </a:extLst>
          </p:cNvPr>
          <p:cNvSpPr txBox="1"/>
          <p:nvPr/>
        </p:nvSpPr>
        <p:spPr>
          <a:xfrm>
            <a:off x="2271947" y="1864955"/>
            <a:ext cx="5090815" cy="1413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marR="0" lvl="0" indent="-342900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dk1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Times New Roman"/>
              </a:rPr>
              <a:t>First checked the dataset </a:t>
            </a:r>
          </a:p>
          <a:p>
            <a:pPr marL="342900" indent="-342900">
              <a:lnSpc>
                <a:spcPct val="90000"/>
              </a:lnSpc>
              <a:spcBef>
                <a:spcPts val="800"/>
              </a:spcBef>
              <a:buClr>
                <a:schemeClr val="dk1"/>
              </a:buClr>
              <a:buSzPts val="1200"/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dk1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Times New Roman"/>
              </a:rPr>
              <a:t>Extracted unnecessary features</a:t>
            </a:r>
          </a:p>
          <a:p>
            <a:pPr marL="342900" indent="-342900">
              <a:lnSpc>
                <a:spcPct val="90000"/>
              </a:lnSpc>
              <a:spcBef>
                <a:spcPts val="800"/>
              </a:spcBef>
              <a:buClr>
                <a:schemeClr val="dk1"/>
              </a:buClr>
              <a:buSzPts val="1200"/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dk1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Times New Roman"/>
              </a:rPr>
              <a:t>Scaling dataset</a:t>
            </a:r>
            <a:endParaRPr lang="en-US" dirty="0"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66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>
            <a:spLocks noGrp="1"/>
          </p:cNvSpPr>
          <p:nvPr>
            <p:ph type="title"/>
          </p:nvPr>
        </p:nvSpPr>
        <p:spPr>
          <a:xfrm>
            <a:off x="2588217" y="544708"/>
            <a:ext cx="3541363" cy="57270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3200" b="1" dirty="0">
                <a:solidFill>
                  <a:schemeClr val="accent4">
                    <a:lumMod val="75000"/>
                  </a:schemeClr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Times New Roman"/>
              </a:rPr>
              <a:t>Algorithm Used</a:t>
            </a:r>
            <a:endParaRPr sz="3200" dirty="0">
              <a:solidFill>
                <a:schemeClr val="accent4">
                  <a:lumMod val="75000"/>
                </a:schemeClr>
              </a:solidFill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  <a:sym typeface="Roboto"/>
            </a:endParaRPr>
          </a:p>
        </p:txBody>
      </p:sp>
      <p:sp>
        <p:nvSpPr>
          <p:cNvPr id="127" name="Google Shape;127;p24"/>
          <p:cNvSpPr txBox="1">
            <a:spLocks noGrp="1"/>
          </p:cNvSpPr>
          <p:nvPr>
            <p:ph type="body" idx="1"/>
          </p:nvPr>
        </p:nvSpPr>
        <p:spPr>
          <a:xfrm>
            <a:off x="1537800" y="1436653"/>
            <a:ext cx="5467434" cy="23836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333500" lvl="2" indent="-285750">
              <a:buClr>
                <a:schemeClr val="dk1"/>
              </a:buClr>
              <a:buSzPts val="1500"/>
              <a:buFont typeface="Wingdings" panose="05000000000000000000" pitchFamily="2" charset="2"/>
              <a:buChar char="v"/>
            </a:pPr>
            <a:r>
              <a:rPr lang="en-US" sz="2400" b="1" i="1" dirty="0">
                <a:solidFill>
                  <a:srgbClr val="002060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K-Nearest Neighbor</a:t>
            </a:r>
          </a:p>
          <a:p>
            <a:pPr marL="1333500" lvl="2" indent="-285750">
              <a:buClr>
                <a:schemeClr val="dk1"/>
              </a:buClr>
              <a:buSzPts val="1500"/>
              <a:buFont typeface="Wingdings" panose="05000000000000000000" pitchFamily="2" charset="2"/>
              <a:buChar char="v"/>
            </a:pPr>
            <a:r>
              <a:rPr lang="en-US" sz="2400" b="1" i="1" dirty="0">
                <a:solidFill>
                  <a:srgbClr val="002060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Decision Tree</a:t>
            </a:r>
          </a:p>
          <a:p>
            <a:pPr marL="1333500" lvl="2" indent="-285750">
              <a:buClr>
                <a:schemeClr val="dk1"/>
              </a:buClr>
              <a:buSzPts val="1500"/>
              <a:buFont typeface="Wingdings" panose="05000000000000000000" pitchFamily="2" charset="2"/>
              <a:buChar char="v"/>
            </a:pPr>
            <a:r>
              <a:rPr lang="en-US" sz="2400" b="1" i="1" dirty="0">
                <a:solidFill>
                  <a:srgbClr val="002060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Random Forest Classifier</a:t>
            </a:r>
          </a:p>
          <a:p>
            <a:pPr marL="1333500" lvl="2" indent="-285750">
              <a:buClr>
                <a:schemeClr val="dk1"/>
              </a:buClr>
              <a:buSzPts val="1500"/>
              <a:buFont typeface="Wingdings" panose="05000000000000000000" pitchFamily="2" charset="2"/>
              <a:buChar char="v"/>
            </a:pPr>
            <a:r>
              <a:rPr lang="en-US" sz="2400" b="1" i="1" dirty="0">
                <a:solidFill>
                  <a:srgbClr val="002060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Naive Bayes Classifier</a:t>
            </a:r>
          </a:p>
          <a:p>
            <a:pPr marL="1333500" lvl="2" indent="-285750">
              <a:buClr>
                <a:schemeClr val="dk1"/>
              </a:buClr>
              <a:buSzPts val="1500"/>
              <a:buFont typeface="Wingdings" panose="05000000000000000000" pitchFamily="2" charset="2"/>
              <a:buChar char="v"/>
            </a:pPr>
            <a:r>
              <a:rPr lang="en-US" sz="2400" b="1" i="1" dirty="0">
                <a:solidFill>
                  <a:srgbClr val="002060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Logistic Regression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0D00C2-7CA6-4E9B-B4CB-2132D198EB9E}"/>
              </a:ext>
            </a:extLst>
          </p:cNvPr>
          <p:cNvSpPr/>
          <p:nvPr/>
        </p:nvSpPr>
        <p:spPr>
          <a:xfrm>
            <a:off x="0" y="449796"/>
            <a:ext cx="3921071" cy="52322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3">
                    <a:lumMod val="50000"/>
                  </a:schemeClr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Times New Roman"/>
              </a:rPr>
              <a:t>Experimental Result</a:t>
            </a:r>
            <a:endParaRPr lang="en-US" sz="2800" dirty="0">
              <a:solidFill>
                <a:schemeClr val="accent3">
                  <a:lumMod val="50000"/>
                </a:schemeClr>
              </a:solidFill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3" name="Google Shape;506;p13">
            <a:extLst>
              <a:ext uri="{FF2B5EF4-FFF2-40B4-BE49-F238E27FC236}">
                <a16:creationId xmlns:a16="http://schemas.microsoft.com/office/drawing/2014/main" id="{3E9C0E9B-FF4D-4898-BA76-005949658C4A}"/>
              </a:ext>
            </a:extLst>
          </p:cNvPr>
          <p:cNvSpPr txBox="1"/>
          <p:nvPr/>
        </p:nvSpPr>
        <p:spPr>
          <a:xfrm>
            <a:off x="200167" y="1101669"/>
            <a:ext cx="541022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Times New Roman"/>
              </a:rPr>
              <a:t>Performance Evaluation Metrix</a:t>
            </a:r>
            <a:endParaRPr sz="1400" b="1" dirty="0">
              <a:solidFill>
                <a:schemeClr val="accent3">
                  <a:lumMod val="50000"/>
                </a:schemeClr>
              </a:solidFill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507;p13">
            <a:extLst>
              <a:ext uri="{FF2B5EF4-FFF2-40B4-BE49-F238E27FC236}">
                <a16:creationId xmlns:a16="http://schemas.microsoft.com/office/drawing/2014/main" id="{D4F914CE-DE99-4A50-B7C8-459E86B759D3}"/>
              </a:ext>
            </a:extLst>
          </p:cNvPr>
          <p:cNvSpPr txBox="1"/>
          <p:nvPr/>
        </p:nvSpPr>
        <p:spPr>
          <a:xfrm>
            <a:off x="2487477" y="1815495"/>
            <a:ext cx="4979963" cy="267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800"/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accent3">
                    <a:lumMod val="75000"/>
                  </a:schemeClr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Times New Roman"/>
              </a:rPr>
              <a:t>Confusion Metrix</a:t>
            </a:r>
            <a:endParaRPr dirty="0">
              <a:solidFill>
                <a:schemeClr val="accent3">
                  <a:lumMod val="75000"/>
                </a:schemeClr>
              </a:solidFill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800"/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accent3">
                    <a:lumMod val="75000"/>
                  </a:schemeClr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Times New Roman"/>
              </a:rPr>
              <a:t>AUC &amp; ROC Curve</a:t>
            </a:r>
            <a:endParaRPr dirty="0">
              <a:solidFill>
                <a:schemeClr val="accent3">
                  <a:lumMod val="75000"/>
                </a:schemeClr>
              </a:solidFill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800"/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accent3">
                    <a:lumMod val="75000"/>
                  </a:schemeClr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Times New Roman"/>
              </a:rPr>
              <a:t>Accuracy</a:t>
            </a:r>
            <a:endParaRPr dirty="0">
              <a:solidFill>
                <a:schemeClr val="accent3">
                  <a:lumMod val="75000"/>
                </a:schemeClr>
              </a:solidFill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800"/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accent3">
                    <a:lumMod val="75000"/>
                  </a:schemeClr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Times New Roman"/>
              </a:rPr>
              <a:t>Precision</a:t>
            </a:r>
            <a:endParaRPr dirty="0">
              <a:solidFill>
                <a:schemeClr val="accent3">
                  <a:lumMod val="75000"/>
                </a:schemeClr>
              </a:solidFill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800"/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accent3">
                    <a:lumMod val="75000"/>
                  </a:schemeClr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Times New Roman"/>
              </a:rPr>
              <a:t>Recall</a:t>
            </a:r>
            <a:endParaRPr dirty="0">
              <a:solidFill>
                <a:schemeClr val="accent3">
                  <a:lumMod val="75000"/>
                </a:schemeClr>
              </a:solidFill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800"/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accent3">
                    <a:lumMod val="75000"/>
                  </a:schemeClr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Times New Roman"/>
              </a:rPr>
              <a:t>F1 Score</a:t>
            </a:r>
            <a:endParaRPr dirty="0">
              <a:solidFill>
                <a:schemeClr val="accent3">
                  <a:lumMod val="75000"/>
                </a:schemeClr>
              </a:solidFill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2205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513;p14">
            <a:extLst>
              <a:ext uri="{FF2B5EF4-FFF2-40B4-BE49-F238E27FC236}">
                <a16:creationId xmlns:a16="http://schemas.microsoft.com/office/drawing/2014/main" id="{4F1C66F9-55D6-46B9-B78F-9C7B4901B925}"/>
              </a:ext>
            </a:extLst>
          </p:cNvPr>
          <p:cNvGrpSpPr/>
          <p:nvPr/>
        </p:nvGrpSpPr>
        <p:grpSpPr>
          <a:xfrm>
            <a:off x="77120" y="732351"/>
            <a:ext cx="6300433" cy="3738909"/>
            <a:chOff x="1190" y="216"/>
            <a:chExt cx="9547" cy="5392"/>
          </a:xfrm>
        </p:grpSpPr>
        <p:pic>
          <p:nvPicPr>
            <p:cNvPr id="4" name="Google Shape;514;p14">
              <a:extLst>
                <a:ext uri="{FF2B5EF4-FFF2-40B4-BE49-F238E27FC236}">
                  <a16:creationId xmlns:a16="http://schemas.microsoft.com/office/drawing/2014/main" id="{65F06261-872D-44AC-9FAF-402659375B50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190" y="216"/>
              <a:ext cx="6362" cy="24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Google Shape;515;p14">
              <a:extLst>
                <a:ext uri="{FF2B5EF4-FFF2-40B4-BE49-F238E27FC236}">
                  <a16:creationId xmlns:a16="http://schemas.microsoft.com/office/drawing/2014/main" id="{25359249-18DC-48A3-8D1A-ABD9FD25DA9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595" y="231"/>
              <a:ext cx="3142" cy="24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516;p14">
              <a:extLst>
                <a:ext uri="{FF2B5EF4-FFF2-40B4-BE49-F238E27FC236}">
                  <a16:creationId xmlns:a16="http://schemas.microsoft.com/office/drawing/2014/main" id="{94AF0CC7-778B-495E-A6DB-27C0F8312FBA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292" y="2716"/>
              <a:ext cx="7414" cy="28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Google Shape;517;p14">
            <a:extLst>
              <a:ext uri="{FF2B5EF4-FFF2-40B4-BE49-F238E27FC236}">
                <a16:creationId xmlns:a16="http://schemas.microsoft.com/office/drawing/2014/main" id="{EF23F5BE-CB37-4C2A-8292-01DE095C211B}"/>
              </a:ext>
            </a:extLst>
          </p:cNvPr>
          <p:cNvSpPr txBox="1"/>
          <p:nvPr/>
        </p:nvSpPr>
        <p:spPr>
          <a:xfrm>
            <a:off x="1513052" y="83125"/>
            <a:ext cx="5919371" cy="52318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Times New Roman"/>
              </a:rPr>
              <a:t>Experimental Result (cont.)</a:t>
            </a:r>
            <a:endParaRPr sz="2800" b="1" dirty="0">
              <a:solidFill>
                <a:schemeClr val="accent3">
                  <a:lumMod val="75000"/>
                </a:schemeClr>
              </a:solidFill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9" name="Google Shape;519;p14">
            <a:extLst>
              <a:ext uri="{FF2B5EF4-FFF2-40B4-BE49-F238E27FC236}">
                <a16:creationId xmlns:a16="http://schemas.microsoft.com/office/drawing/2014/main" id="{32A628A5-2672-47B9-A301-6AE89064B278}"/>
              </a:ext>
            </a:extLst>
          </p:cNvPr>
          <p:cNvSpPr txBox="1"/>
          <p:nvPr/>
        </p:nvSpPr>
        <p:spPr>
          <a:xfrm>
            <a:off x="743434" y="4607707"/>
            <a:ext cx="4371007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239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Times New Roman"/>
              </a:rPr>
              <a:t>Figure 3. Confusion matrix after tuning.</a:t>
            </a:r>
            <a:endParaRPr sz="1600" dirty="0"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0" name="Google Shape;483;p11">
            <a:extLst>
              <a:ext uri="{FF2B5EF4-FFF2-40B4-BE49-F238E27FC236}">
                <a16:creationId xmlns:a16="http://schemas.microsoft.com/office/drawing/2014/main" id="{9287257C-B835-4564-9C91-507B02A43897}"/>
              </a:ext>
            </a:extLst>
          </p:cNvPr>
          <p:cNvSpPr txBox="1"/>
          <p:nvPr/>
        </p:nvSpPr>
        <p:spPr>
          <a:xfrm>
            <a:off x="5674351" y="2903581"/>
            <a:ext cx="3537362" cy="108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b="1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</a:rPr>
              <a:t>TP: True Positive (Correctly Identified) </a:t>
            </a:r>
            <a:endParaRPr lang="en-US" sz="1600" dirty="0"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</a:rPr>
              <a:t>FP: False Positive (Correctly Rejected)</a:t>
            </a:r>
            <a:endParaRPr lang="en-US" sz="1600" dirty="0"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</a:rPr>
              <a:t>TN: True Negative (Incorrectly Identified) </a:t>
            </a:r>
            <a:endParaRPr lang="en-US" sz="1600" dirty="0"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</a:rPr>
              <a:t>FN: False Negative (Incorrectly Rejected)</a:t>
            </a:r>
            <a:endParaRPr lang="en-US" sz="1600" dirty="0">
              <a:effectLst/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8683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525;p15">
            <a:extLst>
              <a:ext uri="{FF2B5EF4-FFF2-40B4-BE49-F238E27FC236}">
                <a16:creationId xmlns:a16="http://schemas.microsoft.com/office/drawing/2014/main" id="{6B4FEC6E-FD5F-4878-B0E7-0665E66E13F0}"/>
              </a:ext>
            </a:extLst>
          </p:cNvPr>
          <p:cNvSpPr txBox="1"/>
          <p:nvPr/>
        </p:nvSpPr>
        <p:spPr>
          <a:xfrm>
            <a:off x="1504179" y="148598"/>
            <a:ext cx="5787774" cy="52318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Times New Roman"/>
              </a:rPr>
              <a:t>Experimental Result (cont.)</a:t>
            </a:r>
            <a:endParaRPr sz="1600" dirty="0">
              <a:solidFill>
                <a:schemeClr val="accent3">
                  <a:lumMod val="75000"/>
                </a:schemeClr>
              </a:solidFill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Google Shape;526;p15">
            <a:extLst>
              <a:ext uri="{FF2B5EF4-FFF2-40B4-BE49-F238E27FC236}">
                <a16:creationId xmlns:a16="http://schemas.microsoft.com/office/drawing/2014/main" id="{96A9B27E-9A90-41E5-BD75-6778ECDEBC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1531000"/>
              </p:ext>
            </p:extLst>
          </p:nvPr>
        </p:nvGraphicFramePr>
        <p:xfrm>
          <a:off x="537863" y="1268693"/>
          <a:ext cx="8126077" cy="3326165"/>
        </p:xfrm>
        <a:graphic>
          <a:graphicData uri="http://schemas.openxmlformats.org/drawingml/2006/table">
            <a:tbl>
              <a:tblPr firstRow="1" firstCol="1" bandRow="1">
                <a:noFill/>
              </a:tblPr>
              <a:tblGrid>
                <a:gridCol w="1542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4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44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96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96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70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75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903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Performance</a:t>
                      </a:r>
                      <a:endParaRPr sz="1800" b="1" u="none" strike="noStrike" cap="none" dirty="0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Hyperparameter Tuning</a:t>
                      </a:r>
                      <a:endParaRPr sz="1800" b="1" u="none" strike="noStrike" cap="none" dirty="0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DT</a:t>
                      </a:r>
                      <a:endParaRPr sz="1800" b="1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RF</a:t>
                      </a:r>
                      <a:endParaRPr sz="1800" b="1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KNN</a:t>
                      </a:r>
                      <a:endParaRPr sz="1800" b="1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NB</a:t>
                      </a:r>
                      <a:endParaRPr sz="1800" b="1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LR</a:t>
                      </a:r>
                      <a:endParaRPr sz="1800" b="1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031">
                <a:tc row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Accuracy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With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94.15%</a:t>
                      </a:r>
                      <a:endParaRPr sz="1600" u="none" strike="noStrike" cap="none" dirty="0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97.08%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98.83%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95.91%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97.08%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03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Without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93.56%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97.08%</a:t>
                      </a:r>
                      <a:endParaRPr sz="1600" u="none" strike="noStrike" cap="none" dirty="0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96.49%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95.91%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96.49%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901">
                <a:tc row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Precision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With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95%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97%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99%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96%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97%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37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Without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94%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97%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96%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96%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96%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255">
                <a:tc row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Recall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With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94%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97%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99%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96%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97%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9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Without</a:t>
                      </a:r>
                      <a:endParaRPr sz="1600" u="none" strike="noStrike" cap="none" dirty="0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94%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97%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96%</a:t>
                      </a:r>
                      <a:endParaRPr sz="1600" u="none" strike="noStrike" cap="none" dirty="0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96%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96%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379">
                <a:tc row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F1 Score</a:t>
                      </a:r>
                      <a:endParaRPr sz="1600" u="none" strike="noStrike" cap="none" dirty="0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With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94%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97%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99%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96%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97%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025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Without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94%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97%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96%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96%</a:t>
                      </a:r>
                      <a:endParaRPr sz="1600" u="none" strike="noStrike" cap="none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latin typeface="Roboto" panose="020B0604020202020204" charset="0"/>
                          <a:ea typeface="Roboto" panose="020B0604020202020204" charset="0"/>
                          <a:cs typeface="Times New Roman"/>
                          <a:sym typeface="Times New Roman"/>
                        </a:rPr>
                        <a:t>96%</a:t>
                      </a:r>
                      <a:endParaRPr sz="1600" u="none" strike="noStrike" cap="none" dirty="0">
                        <a:solidFill>
                          <a:srgbClr val="000000"/>
                        </a:solidFill>
                        <a:latin typeface="Roboto" panose="020B0604020202020204" charset="0"/>
                        <a:ea typeface="Roboto" panose="020B0604020202020204" charset="0"/>
                        <a:cs typeface="Times New Roman"/>
                        <a:sym typeface="Times New Roman"/>
                      </a:endParaRPr>
                    </a:p>
                  </a:txBody>
                  <a:tcPr marL="91450" marR="9145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2" name="Google Shape;533;p16">
            <a:extLst>
              <a:ext uri="{FF2B5EF4-FFF2-40B4-BE49-F238E27FC236}">
                <a16:creationId xmlns:a16="http://schemas.microsoft.com/office/drawing/2014/main" id="{2B6D5829-F503-4B4D-A00D-562F1B7A7FF8}"/>
              </a:ext>
            </a:extLst>
          </p:cNvPr>
          <p:cNvSpPr txBox="1"/>
          <p:nvPr/>
        </p:nvSpPr>
        <p:spPr>
          <a:xfrm>
            <a:off x="537863" y="800978"/>
            <a:ext cx="3744577" cy="33851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marL="43180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Times New Roman"/>
              </a:rPr>
              <a:t>Table:3. Performance Evaluation</a:t>
            </a:r>
            <a:endParaRPr sz="1600" dirty="0"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5011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32;p16">
            <a:extLst>
              <a:ext uri="{FF2B5EF4-FFF2-40B4-BE49-F238E27FC236}">
                <a16:creationId xmlns:a16="http://schemas.microsoft.com/office/drawing/2014/main" id="{0AD1FCA3-EC9A-490D-B02A-5C186D0FED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62645" y="150899"/>
            <a:ext cx="6418709" cy="5608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3200"/>
              <a:buFont typeface="Times New Roman"/>
              <a:buNone/>
            </a:pP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Times New Roman"/>
              </a:rPr>
              <a:t>Experimental Result (Cont.)</a:t>
            </a:r>
            <a:endParaRPr sz="3200" b="1" dirty="0">
              <a:solidFill>
                <a:schemeClr val="accent5">
                  <a:lumMod val="50000"/>
                </a:schemeClr>
              </a:solidFill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  <a:sym typeface="Times New Roman"/>
            </a:endParaRPr>
          </a:p>
        </p:txBody>
      </p:sp>
      <p:pic>
        <p:nvPicPr>
          <p:cNvPr id="5" name="Google Shape;534;p16">
            <a:extLst>
              <a:ext uri="{FF2B5EF4-FFF2-40B4-BE49-F238E27FC236}">
                <a16:creationId xmlns:a16="http://schemas.microsoft.com/office/drawing/2014/main" id="{951616E9-0607-465C-AB97-2FC314E0F11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7167" y="782665"/>
            <a:ext cx="7764650" cy="381258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533;p16">
            <a:extLst>
              <a:ext uri="{FF2B5EF4-FFF2-40B4-BE49-F238E27FC236}">
                <a16:creationId xmlns:a16="http://schemas.microsoft.com/office/drawing/2014/main" id="{94340FE3-96D8-4D17-99AD-251205626464}"/>
              </a:ext>
            </a:extLst>
          </p:cNvPr>
          <p:cNvSpPr txBox="1"/>
          <p:nvPr/>
        </p:nvSpPr>
        <p:spPr>
          <a:xfrm>
            <a:off x="1696288" y="4736406"/>
            <a:ext cx="6307811" cy="338514"/>
          </a:xfrm>
          <a:prstGeom prst="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marL="43180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Times New Roman"/>
              </a:rPr>
              <a:t>Figure 4. AUC and ROC curve after tuning.</a:t>
            </a:r>
            <a:endParaRPr sz="1600" dirty="0"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3743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40;p17">
            <a:extLst>
              <a:ext uri="{FF2B5EF4-FFF2-40B4-BE49-F238E27FC236}">
                <a16:creationId xmlns:a16="http://schemas.microsoft.com/office/drawing/2014/main" id="{23B00D31-85C1-4FD5-BF91-D86C7973FC66}"/>
              </a:ext>
            </a:extLst>
          </p:cNvPr>
          <p:cNvSpPr/>
          <p:nvPr/>
        </p:nvSpPr>
        <p:spPr>
          <a:xfrm>
            <a:off x="643799" y="-41575"/>
            <a:ext cx="5854066" cy="601015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77000">
                <a:srgbClr val="BBD6EE"/>
              </a:gs>
              <a:gs pos="100000">
                <a:schemeClr val="accent6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Times New Roman"/>
              </a:rPr>
              <a:t>Experimental Result (cont.)</a:t>
            </a:r>
            <a:endParaRPr sz="1400" dirty="0"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541;p17">
            <a:extLst>
              <a:ext uri="{FF2B5EF4-FFF2-40B4-BE49-F238E27FC236}">
                <a16:creationId xmlns:a16="http://schemas.microsoft.com/office/drawing/2014/main" id="{2138236B-D414-465E-B5F9-32E1FD8DF6B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43799" y="597880"/>
            <a:ext cx="7973260" cy="395862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542;p17">
            <a:extLst>
              <a:ext uri="{FF2B5EF4-FFF2-40B4-BE49-F238E27FC236}">
                <a16:creationId xmlns:a16="http://schemas.microsoft.com/office/drawing/2014/main" id="{2B6655DE-CF11-48EE-A992-092CC3C40377}"/>
              </a:ext>
            </a:extLst>
          </p:cNvPr>
          <p:cNvSpPr txBox="1"/>
          <p:nvPr/>
        </p:nvSpPr>
        <p:spPr>
          <a:xfrm>
            <a:off x="2370306" y="4723343"/>
            <a:ext cx="452024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318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Times New Roman"/>
              </a:rPr>
              <a:t>Figure 5. Result analysis on accuracy</a:t>
            </a:r>
            <a:r>
              <a:rPr lang="en-US" sz="1600" dirty="0">
                <a:solidFill>
                  <a:schemeClr val="dk1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Times New Roman"/>
              </a:rPr>
              <a:t>.</a:t>
            </a:r>
            <a:endParaRPr sz="1600" dirty="0"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4566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54;p19">
            <a:extLst>
              <a:ext uri="{FF2B5EF4-FFF2-40B4-BE49-F238E27FC236}">
                <a16:creationId xmlns:a16="http://schemas.microsoft.com/office/drawing/2014/main" id="{BD312A38-9DFC-4A1A-834C-B5052B57ECE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4691" y="627088"/>
            <a:ext cx="8206353" cy="400690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55;p19">
            <a:extLst>
              <a:ext uri="{FF2B5EF4-FFF2-40B4-BE49-F238E27FC236}">
                <a16:creationId xmlns:a16="http://schemas.microsoft.com/office/drawing/2014/main" id="{B676811F-A03C-4201-8364-15D47B169030}"/>
              </a:ext>
            </a:extLst>
          </p:cNvPr>
          <p:cNvSpPr/>
          <p:nvPr/>
        </p:nvSpPr>
        <p:spPr>
          <a:xfrm>
            <a:off x="2216258" y="21948"/>
            <a:ext cx="5230566" cy="543146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lt1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Times New Roman"/>
              </a:rPr>
              <a:t>FINAL OUTPUT (cont.)</a:t>
            </a:r>
            <a:endParaRPr sz="1400" dirty="0"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556;p19">
            <a:extLst>
              <a:ext uri="{FF2B5EF4-FFF2-40B4-BE49-F238E27FC236}">
                <a16:creationId xmlns:a16="http://schemas.microsoft.com/office/drawing/2014/main" id="{0048B415-DDB9-40A1-99DD-91712D374A4B}"/>
              </a:ext>
            </a:extLst>
          </p:cNvPr>
          <p:cNvSpPr txBox="1"/>
          <p:nvPr/>
        </p:nvSpPr>
        <p:spPr>
          <a:xfrm>
            <a:off x="1647482" y="4695988"/>
            <a:ext cx="5799342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625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Times New Roman"/>
              </a:rPr>
              <a:t>Figure 6. </a:t>
            </a:r>
            <a:r>
              <a:rPr lang="en-US" sz="1600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Times New Roman"/>
              </a:rPr>
              <a:t>Result in comparison with existing work</a:t>
            </a:r>
            <a:r>
              <a:rPr lang="en-US" sz="1600" dirty="0">
                <a:solidFill>
                  <a:srgbClr val="113285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Times New Roman"/>
              </a:rPr>
              <a:t>.</a:t>
            </a:r>
            <a:endParaRPr dirty="0"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00442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62;p20">
            <a:extLst>
              <a:ext uri="{FF2B5EF4-FFF2-40B4-BE49-F238E27FC236}">
                <a16:creationId xmlns:a16="http://schemas.microsoft.com/office/drawing/2014/main" id="{67E50E69-A57D-43AA-8E2A-16931459E86F}"/>
              </a:ext>
            </a:extLst>
          </p:cNvPr>
          <p:cNvSpPr txBox="1"/>
          <p:nvPr/>
        </p:nvSpPr>
        <p:spPr>
          <a:xfrm>
            <a:off x="306009" y="367683"/>
            <a:ext cx="3839271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90571E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Times New Roman"/>
              </a:rPr>
              <a:t>CONCLUSION</a:t>
            </a:r>
            <a:endParaRPr sz="4000" dirty="0">
              <a:solidFill>
                <a:srgbClr val="90571E"/>
              </a:solidFill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5" name="Google Shape;563;p20">
            <a:extLst>
              <a:ext uri="{FF2B5EF4-FFF2-40B4-BE49-F238E27FC236}">
                <a16:creationId xmlns:a16="http://schemas.microsoft.com/office/drawing/2014/main" id="{30AACB27-6D6D-4BE7-8996-34F49889D722}"/>
              </a:ext>
            </a:extLst>
          </p:cNvPr>
          <p:cNvSpPr txBox="1"/>
          <p:nvPr/>
        </p:nvSpPr>
        <p:spPr>
          <a:xfrm>
            <a:off x="2773729" y="1675525"/>
            <a:ext cx="5119420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accent4"/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Times New Roman"/>
              </a:rPr>
              <a:t>This study will help: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accent4"/>
              </a:solidFill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  <a:sym typeface="Times New Roman"/>
            </a:endParaRPr>
          </a:p>
          <a:p>
            <a:pPr marL="380990" marR="0" lvl="0" indent="-380990" rtl="0">
              <a:spcBef>
                <a:spcPts val="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Times New Roman"/>
              </a:rPr>
              <a:t>The healthcare professional</a:t>
            </a:r>
            <a:endParaRPr dirty="0">
              <a:solidFill>
                <a:schemeClr val="accent5">
                  <a:lumMod val="50000"/>
                </a:schemeClr>
              </a:solidFill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</a:endParaRPr>
          </a:p>
          <a:p>
            <a:pPr marL="380990" marR="0" lvl="0" indent="-380990" rtl="0">
              <a:spcBef>
                <a:spcPts val="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Times New Roman"/>
              </a:rPr>
              <a:t>To predict breast cancer early</a:t>
            </a:r>
          </a:p>
          <a:p>
            <a:pPr marL="380990" marR="0" lvl="0" indent="-380990" rtl="0">
              <a:spcBef>
                <a:spcPts val="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Times New Roman"/>
              </a:rPr>
              <a:t>Got 98.83% accuracy in KNN </a:t>
            </a:r>
            <a:endParaRPr dirty="0">
              <a:solidFill>
                <a:schemeClr val="accent5">
                  <a:lumMod val="50000"/>
                </a:schemeClr>
              </a:solidFill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</a:endParaRPr>
          </a:p>
          <a:p>
            <a:pPr marL="380990" marR="0" lvl="0" indent="-380990" rtl="0">
              <a:spcBef>
                <a:spcPts val="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Times New Roman"/>
              </a:rPr>
              <a:t>Scope for Future work</a:t>
            </a:r>
            <a:endParaRPr dirty="0">
              <a:solidFill>
                <a:schemeClr val="accent5">
                  <a:lumMod val="50000"/>
                </a:schemeClr>
              </a:solidFill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76241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>
            <a:spLocks noGrp="1"/>
          </p:cNvSpPr>
          <p:nvPr>
            <p:ph type="title"/>
          </p:nvPr>
        </p:nvSpPr>
        <p:spPr>
          <a:xfrm>
            <a:off x="3216987" y="120971"/>
            <a:ext cx="2470801" cy="5323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sym typeface="Roboto"/>
              </a:rPr>
              <a:t>References</a:t>
            </a:r>
            <a:endParaRPr sz="3000" dirty="0"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133" name="Google Shape;133;p25"/>
          <p:cNvSpPr txBox="1">
            <a:spLocks noGrp="1"/>
          </p:cNvSpPr>
          <p:nvPr>
            <p:ph type="body" idx="1"/>
          </p:nvPr>
        </p:nvSpPr>
        <p:spPr>
          <a:xfrm>
            <a:off x="121919" y="388571"/>
            <a:ext cx="8801101" cy="43434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AutoNum type="arabicPeriod"/>
            </a:pPr>
            <a:endParaRPr sz="1400" dirty="0">
              <a:solidFill>
                <a:srgbClr val="000000"/>
              </a:solidFill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  <a:sym typeface="Roboto"/>
            </a:endParaRPr>
          </a:p>
          <a:p>
            <a:pPr lvl="0" indent="-317500" algn="just">
              <a:buClr>
                <a:srgbClr val="000000"/>
              </a:buClr>
              <a:buSzPts val="1400"/>
              <a:buFont typeface="Roboto"/>
              <a:buAutoNum type="arabicPeriod"/>
            </a:pPr>
            <a:r>
              <a:rPr lang="en-US" sz="1100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</a:rPr>
              <a:t>Rasool, A., </a:t>
            </a:r>
            <a:r>
              <a:rPr lang="en-US" sz="1100" dirty="0" err="1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</a:rPr>
              <a:t>Bunterngchit</a:t>
            </a:r>
            <a:r>
              <a:rPr lang="en-US" sz="1100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</a:rPr>
              <a:t>, C., </a:t>
            </a:r>
            <a:r>
              <a:rPr lang="en-US" sz="1100" dirty="0" err="1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</a:rPr>
              <a:t>Tiejian</a:t>
            </a:r>
            <a:r>
              <a:rPr lang="en-US" sz="1100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</a:rPr>
              <a:t>, L., Islam, M.R., Qu, Q. and Jiang, Q. (2022) Improved Machine Learning-Based Predictive Models for Breast Cancer Diagnosis. International Journal of Environmental Research and Public Health, 19, Article 3211. https://www.mdpi.com/1660-4601/19/6/3211 </a:t>
            </a:r>
            <a:r>
              <a:rPr lang="en-US" sz="1100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hlinkClick r:id="rId3"/>
              </a:rPr>
              <a:t>https://doi.org/10.3390/ijerph19063211</a:t>
            </a:r>
            <a:endParaRPr lang="en-US" sz="1100" dirty="0"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</a:endParaRPr>
          </a:p>
          <a:p>
            <a:pPr lvl="0" indent="-317500" algn="just">
              <a:buClr>
                <a:srgbClr val="000000"/>
              </a:buClr>
              <a:buSzPts val="1400"/>
              <a:buFont typeface="Roboto"/>
              <a:buAutoNum type="arabicPeriod"/>
            </a:pPr>
            <a:r>
              <a:rPr lang="en-US" sz="1100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</a:rPr>
              <a:t>Roy, S., Gawande, R., </a:t>
            </a:r>
            <a:r>
              <a:rPr lang="en-US" sz="1100" dirty="0" err="1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</a:rPr>
              <a:t>Nawghare</a:t>
            </a:r>
            <a:r>
              <a:rPr lang="en-US" sz="1100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</a:rPr>
              <a:t>, A. and Mistry, S. (2021) Comparative Study of Machine Learning Algorithms for Detecting Breast Cancer. International Journal of Computer Science Trends and Technology (IJCST), 9, 103-111.</a:t>
            </a:r>
          </a:p>
          <a:p>
            <a:pPr lvl="0" indent="-317500" algn="just">
              <a:buClr>
                <a:srgbClr val="000000"/>
              </a:buClr>
              <a:buSzPts val="1400"/>
              <a:buFont typeface="Roboto"/>
              <a:buAutoNum type="arabicPeriod"/>
            </a:pPr>
            <a:r>
              <a:rPr lang="en-US" sz="1100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</a:rPr>
              <a:t>Roy, B.R., Pal, M., Das, S. and Huq, A. (2020) Comparative Study of Machine Learning Approaches on Diagnosing Breast Cancer for Two Different Dataset. Pro-</a:t>
            </a:r>
            <a:r>
              <a:rPr lang="en-US" sz="1100" dirty="0" err="1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</a:rPr>
              <a:t>ceedings</a:t>
            </a:r>
            <a:r>
              <a:rPr lang="en-US" sz="1100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</a:rPr>
              <a:t> of 2020 2nd International Conference on Advanced Information and Com-</a:t>
            </a:r>
            <a:r>
              <a:rPr lang="en-US" sz="1100" dirty="0" err="1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</a:rPr>
              <a:t>munication</a:t>
            </a:r>
            <a:r>
              <a:rPr lang="en-US" sz="1100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</a:rPr>
              <a:t> Technology (ICAICT),	Dhaka,	28-29	November	2020,	29-34. https://ieeexplore.ieee.org/abstract/document/9333507 </a:t>
            </a:r>
            <a:r>
              <a:rPr lang="en-US" sz="1100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hlinkClick r:id="rId4"/>
              </a:rPr>
              <a:t>https://doi.org/10.1109/ICAICT51780.2020.9333507</a:t>
            </a:r>
            <a:endParaRPr lang="en-US" sz="1100" dirty="0"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</a:endParaRPr>
          </a:p>
          <a:p>
            <a:pPr lvl="0" indent="-317500" algn="just">
              <a:buClr>
                <a:srgbClr val="000000"/>
              </a:buClr>
              <a:buSzPts val="1400"/>
              <a:buFont typeface="Roboto"/>
              <a:buAutoNum type="arabicPeriod"/>
            </a:pPr>
            <a:r>
              <a:rPr lang="en-US" sz="1100" dirty="0" err="1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</a:rPr>
              <a:t>Rajaguru</a:t>
            </a:r>
            <a:r>
              <a:rPr lang="en-US" sz="1100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</a:rPr>
              <a:t>, H. and Chakravarthy, S.R. (2019) Analysis of Decision Tree and K-Nearest Neighbor Algorithm in the Classification of Breast Cancer. Asian Pacific Journal of Cancer Prevention, 20, 3777-3781.</a:t>
            </a:r>
          </a:p>
          <a:p>
            <a:pPr lvl="0" indent="-317500" algn="just">
              <a:buClr>
                <a:srgbClr val="000000"/>
              </a:buClr>
              <a:buSzPts val="1400"/>
              <a:buFont typeface="Roboto"/>
              <a:buAutoNum type="arabicPeriod"/>
            </a:pPr>
            <a:r>
              <a:rPr lang="en-US" sz="1100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</a:rPr>
              <a:t>Gupta, M. and Gupta, B. (2018) A Comparative Study of Breast Cancer Diagnosis Using Supervised Machine Learning Techniques. Proceedings of 2018 Second In- </a:t>
            </a:r>
            <a:r>
              <a:rPr lang="en-US" sz="1100" dirty="0" err="1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</a:rPr>
              <a:t>ternational</a:t>
            </a:r>
            <a:r>
              <a:rPr lang="en-US" sz="1100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</a:rPr>
              <a:t> Conference on Computing Methodologies and Communication (ICCMC), Erode, 15-16 February 2018, 997-1002. </a:t>
            </a:r>
            <a:r>
              <a:rPr lang="en-US" sz="1100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  <a:hlinkClick r:id="rId5"/>
              </a:rPr>
              <a:t>https://doi.org/10.1109/ICCMC.2018.8487537</a:t>
            </a:r>
            <a:endParaRPr lang="en-US" sz="1100" dirty="0"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</a:endParaRPr>
          </a:p>
          <a:p>
            <a:pPr lvl="0" indent="-317500" algn="just">
              <a:buClr>
                <a:srgbClr val="000000"/>
              </a:buClr>
              <a:buSzPts val="1400"/>
              <a:buFont typeface="Roboto"/>
              <a:buAutoNum type="arabicPeriod"/>
            </a:pPr>
            <a:r>
              <a:rPr lang="en-US" sz="1100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</a:rPr>
              <a:t>Salama, G.I., </a:t>
            </a:r>
            <a:r>
              <a:rPr lang="en-US" sz="1100" dirty="0" err="1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</a:rPr>
              <a:t>Abdelhalim</a:t>
            </a:r>
            <a:r>
              <a:rPr lang="en-US" sz="1100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</a:rPr>
              <a:t>, M.B. and </a:t>
            </a:r>
            <a:r>
              <a:rPr lang="en-US" sz="1100" dirty="0" err="1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</a:rPr>
              <a:t>Zeid</a:t>
            </a:r>
            <a:r>
              <a:rPr lang="en-US" sz="1100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</a:rPr>
              <a:t>, M.A. (2012) Breast Cancer Diagnosis on Three Different Datasets Using Multi-Classifiers. International Journal of Computer and Information Technology, 1, 36-43.</a:t>
            </a:r>
          </a:p>
          <a:p>
            <a:pPr lvl="0" indent="-317500" algn="just">
              <a:buClr>
                <a:srgbClr val="000000"/>
              </a:buClr>
              <a:buSzPts val="1400"/>
              <a:buFont typeface="Roboto"/>
              <a:buAutoNum type="arabicPeriod"/>
            </a:pPr>
            <a:r>
              <a:rPr lang="en-US" sz="1100" dirty="0" err="1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</a:rPr>
              <a:t>Merouane</a:t>
            </a:r>
            <a:r>
              <a:rPr lang="en-US" sz="1100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</a:rPr>
              <a:t>, E. and Said, A. (2022) Prediction of Metastatic Relapse in Breast Cancer using Machine Learning Classifiers. International Journal of Advanced Computer Science and Applications, 13, 176-181. https://doi.org/10.14569/IJACSA.2022.0130222</a:t>
            </a:r>
          </a:p>
          <a:p>
            <a:pPr lvl="0" indent="-317500" algn="just">
              <a:buClr>
                <a:srgbClr val="000000"/>
              </a:buClr>
              <a:buSzPts val="1400"/>
              <a:buFont typeface="Roboto"/>
              <a:buAutoNum type="arabicPeriod"/>
            </a:pPr>
            <a:endParaRPr lang="en-US" sz="1100" dirty="0">
              <a:latin typeface="Roboto" panose="020B0604020202020204" charset="0"/>
              <a:ea typeface="Roboto" panose="020B060402020202020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0713" y="1485900"/>
            <a:ext cx="5362575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E9D76B7-CD98-40CC-8A47-E9CC97338403}"/>
              </a:ext>
            </a:extLst>
          </p:cNvPr>
          <p:cNvSpPr txBox="1"/>
          <p:nvPr/>
        </p:nvSpPr>
        <p:spPr>
          <a:xfrm>
            <a:off x="6379698" y="4076059"/>
            <a:ext cx="2820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Roboto" panose="020B0604020202020204" charset="0"/>
                <a:ea typeface="Roboto" panose="020B0604020202020204" charset="0"/>
                <a:cs typeface="Times New Roman" panose="02020603050405020304" pitchFamily="18" charset="0"/>
              </a:rPr>
              <a:t>Any Question?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EDEBE7"/>
      </a:lt2>
      <a:accent1>
        <a:srgbClr val="5FA534"/>
      </a:accent1>
      <a:accent2>
        <a:srgbClr val="DCAB34"/>
      </a:accent2>
      <a:accent3>
        <a:srgbClr val="D26D23"/>
      </a:accent3>
      <a:accent4>
        <a:srgbClr val="972323"/>
      </a:accent4>
      <a:accent5>
        <a:srgbClr val="236797"/>
      </a:accent5>
      <a:accent6>
        <a:srgbClr val="2FB6C6"/>
      </a:accent6>
      <a:hlink>
        <a:srgbClr val="8FC639"/>
      </a:hlink>
      <a:folHlink>
        <a:srgbClr val="E7C272"/>
      </a:folHlink>
    </a:clrScheme>
    <a:fontScheme name="Gallery">
      <a:majorFont>
        <a:latin typeface="Palatino Linotype" panose="020405020505050303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AC464412-510E-4F2B-8947-A0DDBD028997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959</TotalTime>
  <Words>1176</Words>
  <Application>Microsoft Office PowerPoint</Application>
  <PresentationFormat>On-screen Show (16:9)</PresentationFormat>
  <Paragraphs>205</Paragraphs>
  <Slides>21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Courier New</vt:lpstr>
      <vt:lpstr>Roboto</vt:lpstr>
      <vt:lpstr>Times New Roman</vt:lpstr>
      <vt:lpstr>Noto Sans Symbols</vt:lpstr>
      <vt:lpstr>Wingdings</vt:lpstr>
      <vt:lpstr>Raleway SemiBold</vt:lpstr>
      <vt:lpstr>Libre Baskerville</vt:lpstr>
      <vt:lpstr>Palatino Linotype</vt:lpstr>
      <vt:lpstr>Calibri</vt:lpstr>
      <vt:lpstr>Arial</vt:lpstr>
      <vt:lpstr>Gallery</vt:lpstr>
      <vt:lpstr>PowerPoint Presentation</vt:lpstr>
      <vt:lpstr>           Department of Computer Science and Engineering  Supervised by:         Md. Mijanur Rahman   Assistant Professor, Dept. of CSE  </vt:lpstr>
      <vt:lpstr> Research Topic  Breast Cancer Classification Using Machine Learning Algorithms</vt:lpstr>
      <vt:lpstr>Contents  </vt:lpstr>
      <vt:lpstr>Introduction</vt:lpstr>
      <vt:lpstr>Objectives</vt:lpstr>
      <vt:lpstr>Related Works</vt:lpstr>
      <vt:lpstr>Methodology</vt:lpstr>
      <vt:lpstr>PowerPoint Presentation</vt:lpstr>
      <vt:lpstr>PowerPoint Presentation</vt:lpstr>
      <vt:lpstr>PowerPoint Presentation</vt:lpstr>
      <vt:lpstr>Algorithm Used</vt:lpstr>
      <vt:lpstr>PowerPoint Presentation</vt:lpstr>
      <vt:lpstr>PowerPoint Presentation</vt:lpstr>
      <vt:lpstr>PowerPoint Presentation</vt:lpstr>
      <vt:lpstr>Experimental Result (Cont.)</vt:lpstr>
      <vt:lpstr>PowerPoint Presentation</vt:lpstr>
      <vt:lpstr>PowerPoint Presentation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Computer Science and Engineering       Supervised by:      Roksana Akter Jolly Assistant Professor, Dept. of CSE</dc:title>
  <dc:creator>Mr. Shanto</dc:creator>
  <cp:lastModifiedBy>Mr. Shanto</cp:lastModifiedBy>
  <cp:revision>73</cp:revision>
  <dcterms:modified xsi:type="dcterms:W3CDTF">2024-02-13T19:49:38Z</dcterms:modified>
</cp:coreProperties>
</file>